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Roca One Bold" charset="1" panose="00000800000000000000"/>
      <p:regular r:id="rId26"/>
    </p:embeddedFont>
    <p:embeddedFont>
      <p:font typeface="Roca One" charset="1" panose="00000500000000000000"/>
      <p:regular r:id="rId27"/>
    </p:embeddedFont>
    <p:embeddedFont>
      <p:font typeface="TT Fors Bold" charset="1" panose="020B000303000102000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13.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182505" y="2482487"/>
            <a:ext cx="15922990" cy="2292350"/>
          </a:xfrm>
          <a:prstGeom prst="rect">
            <a:avLst/>
          </a:prstGeom>
        </p:spPr>
        <p:txBody>
          <a:bodyPr anchor="t" rtlCol="false" tIns="0" lIns="0" bIns="0" rIns="0">
            <a:spAutoFit/>
          </a:bodyPr>
          <a:lstStyle/>
          <a:p>
            <a:pPr algn="ctr" marL="0" indent="0" lvl="0">
              <a:lnSpc>
                <a:spcPts val="9279"/>
              </a:lnSpc>
            </a:pPr>
            <a:r>
              <a:rPr lang="en-US" b="true" sz="6399">
                <a:solidFill>
                  <a:srgbClr val="3A73AE"/>
                </a:solidFill>
                <a:latin typeface="Roca One Bold"/>
                <a:ea typeface="Roca One Bold"/>
                <a:cs typeface="Roca One Bold"/>
                <a:sym typeface="Roca One Bold"/>
              </a:rPr>
              <a:t>TASK MANAGEMENT APPLICATION USING DOCKER</a:t>
            </a:r>
          </a:p>
        </p:txBody>
      </p:sp>
      <p:sp>
        <p:nvSpPr>
          <p:cNvPr name="TextBox 30" id="30"/>
          <p:cNvSpPr txBox="true"/>
          <p:nvPr/>
        </p:nvSpPr>
        <p:spPr>
          <a:xfrm rot="0">
            <a:off x="4795375" y="5787100"/>
            <a:ext cx="9535868" cy="3167254"/>
          </a:xfrm>
          <a:prstGeom prst="rect">
            <a:avLst/>
          </a:prstGeom>
        </p:spPr>
        <p:txBody>
          <a:bodyPr anchor="t" rtlCol="false" tIns="0" lIns="0" bIns="0" rIns="0">
            <a:spAutoFit/>
          </a:bodyPr>
          <a:lstStyle/>
          <a:p>
            <a:pPr algn="l">
              <a:lnSpc>
                <a:spcPts val="5061"/>
              </a:lnSpc>
            </a:pPr>
            <a:r>
              <a:rPr lang="en-US" sz="3374">
                <a:solidFill>
                  <a:srgbClr val="0F1C29"/>
                </a:solidFill>
                <a:latin typeface="Roca One"/>
                <a:ea typeface="Roca One"/>
                <a:cs typeface="Roca One"/>
                <a:sym typeface="Roca One"/>
              </a:rPr>
              <a:t>Name: Vivek Pandey</a:t>
            </a:r>
          </a:p>
          <a:p>
            <a:pPr algn="l">
              <a:lnSpc>
                <a:spcPts val="5061"/>
              </a:lnSpc>
            </a:pPr>
            <a:r>
              <a:rPr lang="en-US" sz="3374">
                <a:solidFill>
                  <a:srgbClr val="0F1C29"/>
                </a:solidFill>
                <a:latin typeface="Roca One"/>
                <a:ea typeface="Roca One"/>
                <a:cs typeface="Roca One"/>
                <a:sym typeface="Roca One"/>
              </a:rPr>
              <a:t>College: Ajay Kumar Garg Engineering College</a:t>
            </a:r>
          </a:p>
          <a:p>
            <a:pPr algn="l">
              <a:lnSpc>
                <a:spcPts val="5061"/>
              </a:lnSpc>
            </a:pPr>
            <a:r>
              <a:rPr lang="en-US" sz="3374">
                <a:solidFill>
                  <a:srgbClr val="0F1C29"/>
                </a:solidFill>
                <a:latin typeface="Roca One"/>
                <a:ea typeface="Roca One"/>
                <a:cs typeface="Roca One"/>
                <a:sym typeface="Roca One"/>
              </a:rPr>
              <a:t>Department: Cloud Computing </a:t>
            </a:r>
          </a:p>
          <a:p>
            <a:pPr algn="l">
              <a:lnSpc>
                <a:spcPts val="5061"/>
              </a:lnSpc>
            </a:pPr>
            <a:r>
              <a:rPr lang="en-US" sz="3374">
                <a:solidFill>
                  <a:srgbClr val="0F1C29"/>
                </a:solidFill>
                <a:latin typeface="Roca One"/>
                <a:ea typeface="Roca One"/>
                <a:cs typeface="Roca One"/>
                <a:sym typeface="Roca One"/>
              </a:rPr>
              <a:t>IBM Skillsbuild</a:t>
            </a:r>
          </a:p>
          <a:p>
            <a:pPr algn="l">
              <a:lnSpc>
                <a:spcPts val="5061"/>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028700" y="1131177"/>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AGENDA</a:t>
            </a:r>
          </a:p>
        </p:txBody>
      </p:sp>
      <p:sp>
        <p:nvSpPr>
          <p:cNvPr name="TextBox 30" id="30"/>
          <p:cNvSpPr txBox="true"/>
          <p:nvPr/>
        </p:nvSpPr>
        <p:spPr>
          <a:xfrm rot="0">
            <a:off x="3529419" y="2134707"/>
            <a:ext cx="12123689" cy="7972425"/>
          </a:xfrm>
          <a:prstGeom prst="rect">
            <a:avLst/>
          </a:prstGeom>
        </p:spPr>
        <p:txBody>
          <a:bodyPr anchor="t" rtlCol="false" tIns="0" lIns="0" bIns="0" rIns="0">
            <a:spAutoFit/>
          </a:bodyPr>
          <a:lstStyle/>
          <a:p>
            <a:pPr algn="l">
              <a:lnSpc>
                <a:spcPts val="4499"/>
              </a:lnSpc>
            </a:pPr>
          </a:p>
          <a:p>
            <a:pPr algn="l" marL="647700" indent="-323850" lvl="1">
              <a:lnSpc>
                <a:spcPts val="4499"/>
              </a:lnSpc>
              <a:buFont typeface="Arial"/>
              <a:buChar char="•"/>
            </a:pPr>
            <a:r>
              <a:rPr lang="en-US" sz="2999">
                <a:solidFill>
                  <a:srgbClr val="0F1C29"/>
                </a:solidFill>
                <a:latin typeface="Roca One"/>
                <a:ea typeface="Roca One"/>
                <a:cs typeface="Roca One"/>
                <a:sym typeface="Roca One"/>
              </a:rPr>
              <a:t>Problem Statement</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Objectives</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Technology Stack</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Project Architecture</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Project Structure</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Docker Workflow</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Key Features</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Live Demonstration</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Challenges Faced</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Learning Outcomes</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Future Scope</a:t>
            </a:r>
          </a:p>
          <a:p>
            <a:pPr algn="l">
              <a:lnSpc>
                <a:spcPts val="4499"/>
              </a:lnSpc>
            </a:pPr>
          </a:p>
          <a:p>
            <a:pPr algn="ctr">
              <a:lnSpc>
                <a:spcPts val="4499"/>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834716" y="1544673"/>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P</a:t>
            </a:r>
            <a:r>
              <a:rPr lang="en-US" b="true" sz="7500">
                <a:solidFill>
                  <a:srgbClr val="3A73AE"/>
                </a:solidFill>
                <a:latin typeface="Roca One Bold"/>
                <a:ea typeface="Roca One Bold"/>
                <a:cs typeface="Roca One Bold"/>
                <a:sym typeface="Roca One Bold"/>
              </a:rPr>
              <a:t>ROBLEM STATEMENTS</a:t>
            </a:r>
          </a:p>
        </p:txBody>
      </p:sp>
      <p:sp>
        <p:nvSpPr>
          <p:cNvPr name="TextBox 30" id="30"/>
          <p:cNvSpPr txBox="true"/>
          <p:nvPr/>
        </p:nvSpPr>
        <p:spPr>
          <a:xfrm rot="0">
            <a:off x="1346120" y="3148802"/>
            <a:ext cx="15595760" cy="6361932"/>
          </a:xfrm>
          <a:prstGeom prst="rect">
            <a:avLst/>
          </a:prstGeom>
        </p:spPr>
        <p:txBody>
          <a:bodyPr anchor="t" rtlCol="false" tIns="0" lIns="0" bIns="0" rIns="0">
            <a:spAutoFit/>
          </a:bodyPr>
          <a:lstStyle/>
          <a:p>
            <a:pPr algn="l">
              <a:lnSpc>
                <a:spcPts val="4271"/>
              </a:lnSpc>
            </a:pPr>
            <a:r>
              <a:rPr lang="en-US" sz="2847">
                <a:solidFill>
                  <a:srgbClr val="0F1C29"/>
                </a:solidFill>
                <a:latin typeface="Roca One"/>
                <a:ea typeface="Roca One"/>
                <a:cs typeface="Roca One"/>
                <a:sym typeface="Roca One"/>
              </a:rPr>
              <a:t>In today's fast-paced environment, managing daily tasks efficiently is essential for improving productivity. Many users still rely on traditional methods such as handwritten notes or scattered digital applications, which can lead to disorganized workflows, missed deadlines, and reduced efficiency. Managing daily tasks manually becomes difficult when multiple activities need to be tracked. </a:t>
            </a:r>
            <a:r>
              <a:rPr lang="en-US" sz="2847">
                <a:solidFill>
                  <a:srgbClr val="0F1C29"/>
                </a:solidFill>
                <a:latin typeface="Roca One"/>
                <a:ea typeface="Roca One"/>
                <a:cs typeface="Roca One"/>
                <a:sym typeface="Roca One"/>
              </a:rPr>
              <a:t>Existing methods such as paper notes or scattered applications are inefficient and may result in missed deadlines.</a:t>
            </a:r>
          </a:p>
          <a:p>
            <a:pPr algn="l">
              <a:lnSpc>
                <a:spcPts val="4271"/>
              </a:lnSpc>
            </a:pPr>
            <a:r>
              <a:rPr lang="en-US" sz="2847">
                <a:solidFill>
                  <a:srgbClr val="0F1C29"/>
                </a:solidFill>
                <a:latin typeface="Roca One"/>
                <a:ea typeface="Roca One"/>
                <a:cs typeface="Roca One"/>
                <a:sym typeface="Roca One"/>
              </a:rPr>
              <a:t>To address these challenges, this project presents a Docker-based Task Management Application. The application allows users to create, update, and delete tasks through a simple and responsive interface while Docker packages the application along with all its dependencies into a container.</a:t>
            </a:r>
          </a:p>
          <a:p>
            <a:pPr algn="l">
              <a:lnSpc>
                <a:spcPts val="4271"/>
              </a:lnSpc>
            </a:pPr>
          </a:p>
          <a:p>
            <a:pPr algn="l">
              <a:lnSpc>
                <a:spcPts val="4271"/>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313765" y="1760217"/>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 O</a:t>
            </a:r>
            <a:r>
              <a:rPr lang="en-US" b="true" sz="7500">
                <a:solidFill>
                  <a:srgbClr val="3A73AE"/>
                </a:solidFill>
                <a:latin typeface="Roca One Bold"/>
                <a:ea typeface="Roca One Bold"/>
                <a:cs typeface="Roca One Bold"/>
                <a:sym typeface="Roca One Bold"/>
              </a:rPr>
              <a:t>BJECTIVES</a:t>
            </a:r>
          </a:p>
        </p:txBody>
      </p:sp>
      <p:sp>
        <p:nvSpPr>
          <p:cNvPr name="TextBox 30" id="30"/>
          <p:cNvSpPr txBox="true"/>
          <p:nvPr/>
        </p:nvSpPr>
        <p:spPr>
          <a:xfrm rot="0">
            <a:off x="1565790" y="4939334"/>
            <a:ext cx="4512710" cy="2479018"/>
          </a:xfrm>
          <a:prstGeom prst="rect">
            <a:avLst/>
          </a:prstGeom>
        </p:spPr>
        <p:txBody>
          <a:bodyPr anchor="t" rtlCol="false" tIns="0" lIns="0" bIns="0" rIns="0">
            <a:spAutoFit/>
          </a:bodyPr>
          <a:lstStyle/>
          <a:p>
            <a:pPr algn="l">
              <a:lnSpc>
                <a:spcPts val="3941"/>
              </a:lnSpc>
            </a:pPr>
            <a:r>
              <a:rPr lang="en-US" sz="2627">
                <a:solidFill>
                  <a:srgbClr val="0F1C29"/>
                </a:solidFill>
                <a:latin typeface="Roca One"/>
                <a:ea typeface="Roca One"/>
                <a:cs typeface="Roca One"/>
                <a:sym typeface="Roca One"/>
              </a:rPr>
              <a:t>Develop a user-friendly Task Management Application. Ensure platform-independent deployment</a:t>
            </a:r>
          </a:p>
          <a:p>
            <a:pPr algn="l">
              <a:lnSpc>
                <a:spcPts val="3941"/>
              </a:lnSpc>
            </a:pPr>
            <a:r>
              <a:rPr lang="en-US" sz="2627">
                <a:solidFill>
                  <a:srgbClr val="0F1C29"/>
                </a:solidFill>
                <a:latin typeface="Roca One"/>
                <a:ea typeface="Roca One"/>
                <a:cs typeface="Roca One"/>
                <a:sym typeface="Roca One"/>
              </a:rPr>
              <a:t> </a:t>
            </a:r>
          </a:p>
        </p:txBody>
      </p:sp>
      <p:sp>
        <p:nvSpPr>
          <p:cNvPr name="TextBox 31" id="31"/>
          <p:cNvSpPr txBox="true"/>
          <p:nvPr/>
        </p:nvSpPr>
        <p:spPr>
          <a:xfrm rot="0">
            <a:off x="1845000" y="3552517"/>
            <a:ext cx="1387615" cy="1163099"/>
          </a:xfrm>
          <a:prstGeom prst="rect">
            <a:avLst/>
          </a:prstGeom>
        </p:spPr>
        <p:txBody>
          <a:bodyPr anchor="t" rtlCol="false" tIns="0" lIns="0" bIns="0" rIns="0">
            <a:spAutoFit/>
          </a:bodyPr>
          <a:lstStyle/>
          <a:p>
            <a:pPr algn="l" marL="0" indent="0" lvl="0">
              <a:lnSpc>
                <a:spcPts val="9525"/>
              </a:lnSpc>
            </a:pPr>
            <a:r>
              <a:rPr lang="en-US" b="true" sz="6569">
                <a:solidFill>
                  <a:srgbClr val="3A73AE"/>
                </a:solidFill>
                <a:latin typeface="Roca One Bold"/>
                <a:ea typeface="Roca One Bold"/>
                <a:cs typeface="Roca One Bold"/>
                <a:sym typeface="Roca One Bold"/>
              </a:rPr>
              <a:t>01.</a:t>
            </a:r>
          </a:p>
        </p:txBody>
      </p:sp>
      <p:sp>
        <p:nvSpPr>
          <p:cNvPr name="TextBox 32" id="32"/>
          <p:cNvSpPr txBox="true"/>
          <p:nvPr/>
        </p:nvSpPr>
        <p:spPr>
          <a:xfrm rot="0">
            <a:off x="6483073" y="4889275"/>
            <a:ext cx="4512710" cy="2979605"/>
          </a:xfrm>
          <a:prstGeom prst="rect">
            <a:avLst/>
          </a:prstGeom>
        </p:spPr>
        <p:txBody>
          <a:bodyPr anchor="t" rtlCol="false" tIns="0" lIns="0" bIns="0" rIns="0">
            <a:spAutoFit/>
          </a:bodyPr>
          <a:lstStyle/>
          <a:p>
            <a:pPr algn="l">
              <a:lnSpc>
                <a:spcPts val="3941"/>
              </a:lnSpc>
            </a:pPr>
            <a:r>
              <a:rPr lang="en-US" sz="2627">
                <a:solidFill>
                  <a:srgbClr val="0F1C29"/>
                </a:solidFill>
                <a:latin typeface="Roca One"/>
                <a:ea typeface="Roca One"/>
                <a:cs typeface="Roca One"/>
                <a:sym typeface="Roca One"/>
              </a:rPr>
              <a:t>Implement CRUD operations</a:t>
            </a:r>
          </a:p>
          <a:p>
            <a:pPr algn="l" marL="567332" indent="-283666" lvl="1">
              <a:lnSpc>
                <a:spcPts val="3941"/>
              </a:lnSpc>
              <a:buFont typeface="Arial"/>
              <a:buChar char="•"/>
            </a:pPr>
            <a:r>
              <a:rPr lang="en-US" sz="2627">
                <a:solidFill>
                  <a:srgbClr val="0F1C29"/>
                </a:solidFill>
                <a:latin typeface="Roca One"/>
                <a:ea typeface="Roca One"/>
                <a:cs typeface="Roca One"/>
                <a:sym typeface="Roca One"/>
              </a:rPr>
              <a:t>Create Task</a:t>
            </a:r>
          </a:p>
          <a:p>
            <a:pPr algn="l" marL="567332" indent="-283666" lvl="1">
              <a:lnSpc>
                <a:spcPts val="3941"/>
              </a:lnSpc>
              <a:buFont typeface="Arial"/>
              <a:buChar char="•"/>
            </a:pPr>
            <a:r>
              <a:rPr lang="en-US" sz="2627">
                <a:solidFill>
                  <a:srgbClr val="0F1C29"/>
                </a:solidFill>
                <a:latin typeface="Roca One"/>
                <a:ea typeface="Roca One"/>
                <a:cs typeface="Roca One"/>
                <a:sym typeface="Roca One"/>
              </a:rPr>
              <a:t>Read Task</a:t>
            </a:r>
          </a:p>
          <a:p>
            <a:pPr algn="l" marL="567332" indent="-283666" lvl="1">
              <a:lnSpc>
                <a:spcPts val="3941"/>
              </a:lnSpc>
              <a:buFont typeface="Arial"/>
              <a:buChar char="•"/>
            </a:pPr>
            <a:r>
              <a:rPr lang="en-US" sz="2627">
                <a:solidFill>
                  <a:srgbClr val="0F1C29"/>
                </a:solidFill>
                <a:latin typeface="Roca One"/>
                <a:ea typeface="Roca One"/>
                <a:cs typeface="Roca One"/>
                <a:sym typeface="Roca One"/>
              </a:rPr>
              <a:t>Update Task</a:t>
            </a:r>
          </a:p>
          <a:p>
            <a:pPr algn="l" marL="567332" indent="-283666" lvl="1">
              <a:lnSpc>
                <a:spcPts val="3941"/>
              </a:lnSpc>
              <a:buFont typeface="Arial"/>
              <a:buChar char="•"/>
            </a:pPr>
            <a:r>
              <a:rPr lang="en-US" sz="2627">
                <a:solidFill>
                  <a:srgbClr val="0F1C29"/>
                </a:solidFill>
                <a:latin typeface="Roca One"/>
                <a:ea typeface="Roca One"/>
                <a:cs typeface="Roca One"/>
                <a:sym typeface="Roca One"/>
              </a:rPr>
              <a:t>Delete Task</a:t>
            </a:r>
          </a:p>
          <a:p>
            <a:pPr algn="l">
              <a:lnSpc>
                <a:spcPts val="3941"/>
              </a:lnSpc>
            </a:pPr>
          </a:p>
        </p:txBody>
      </p:sp>
      <p:sp>
        <p:nvSpPr>
          <p:cNvPr name="TextBox 33" id="33"/>
          <p:cNvSpPr txBox="true"/>
          <p:nvPr/>
        </p:nvSpPr>
        <p:spPr>
          <a:xfrm rot="0">
            <a:off x="6887645" y="3552517"/>
            <a:ext cx="1387615" cy="1163099"/>
          </a:xfrm>
          <a:prstGeom prst="rect">
            <a:avLst/>
          </a:prstGeom>
        </p:spPr>
        <p:txBody>
          <a:bodyPr anchor="t" rtlCol="false" tIns="0" lIns="0" bIns="0" rIns="0">
            <a:spAutoFit/>
          </a:bodyPr>
          <a:lstStyle/>
          <a:p>
            <a:pPr algn="l" marL="0" indent="0" lvl="0">
              <a:lnSpc>
                <a:spcPts val="9525"/>
              </a:lnSpc>
            </a:pPr>
            <a:r>
              <a:rPr lang="en-US" b="true" sz="6569">
                <a:solidFill>
                  <a:srgbClr val="3A73AE"/>
                </a:solidFill>
                <a:latin typeface="Roca One Bold"/>
                <a:ea typeface="Roca One Bold"/>
                <a:cs typeface="Roca One Bold"/>
                <a:sym typeface="Roca One Bold"/>
              </a:rPr>
              <a:t>02.</a:t>
            </a:r>
          </a:p>
        </p:txBody>
      </p:sp>
      <p:sp>
        <p:nvSpPr>
          <p:cNvPr name="TextBox 34" id="34"/>
          <p:cNvSpPr txBox="true"/>
          <p:nvPr/>
        </p:nvSpPr>
        <p:spPr>
          <a:xfrm rot="0">
            <a:off x="11930290" y="3552517"/>
            <a:ext cx="1387615" cy="1163099"/>
          </a:xfrm>
          <a:prstGeom prst="rect">
            <a:avLst/>
          </a:prstGeom>
        </p:spPr>
        <p:txBody>
          <a:bodyPr anchor="t" rtlCol="false" tIns="0" lIns="0" bIns="0" rIns="0">
            <a:spAutoFit/>
          </a:bodyPr>
          <a:lstStyle/>
          <a:p>
            <a:pPr algn="l" marL="0" indent="0" lvl="0">
              <a:lnSpc>
                <a:spcPts val="9525"/>
              </a:lnSpc>
            </a:pPr>
            <a:r>
              <a:rPr lang="en-US" b="true" sz="6569">
                <a:solidFill>
                  <a:srgbClr val="3A73AE"/>
                </a:solidFill>
                <a:latin typeface="Roca One Bold"/>
                <a:ea typeface="Roca One Bold"/>
                <a:cs typeface="Roca One Bold"/>
                <a:sym typeface="Roca One Bold"/>
              </a:rPr>
              <a:t>03.</a:t>
            </a:r>
          </a:p>
        </p:txBody>
      </p:sp>
      <p:sp>
        <p:nvSpPr>
          <p:cNvPr name="TextBox 35" id="35"/>
          <p:cNvSpPr txBox="true"/>
          <p:nvPr/>
        </p:nvSpPr>
        <p:spPr>
          <a:xfrm rot="0">
            <a:off x="11395833" y="4939334"/>
            <a:ext cx="4512710" cy="2479018"/>
          </a:xfrm>
          <a:prstGeom prst="rect">
            <a:avLst/>
          </a:prstGeom>
        </p:spPr>
        <p:txBody>
          <a:bodyPr anchor="t" rtlCol="false" tIns="0" lIns="0" bIns="0" rIns="0">
            <a:spAutoFit/>
          </a:bodyPr>
          <a:lstStyle/>
          <a:p>
            <a:pPr algn="l">
              <a:lnSpc>
                <a:spcPts val="3941"/>
              </a:lnSpc>
            </a:pPr>
            <a:r>
              <a:rPr lang="en-US" sz="2627">
                <a:solidFill>
                  <a:srgbClr val="0F1C29"/>
                </a:solidFill>
                <a:latin typeface="Roca One"/>
                <a:ea typeface="Roca One"/>
                <a:cs typeface="Roca One"/>
                <a:sym typeface="Roca One"/>
              </a:rPr>
              <a:t>Containerize the application using Docker. </a:t>
            </a:r>
            <a:r>
              <a:rPr lang="en-US" sz="2627">
                <a:solidFill>
                  <a:srgbClr val="0F1C29"/>
                </a:solidFill>
                <a:latin typeface="Roca One"/>
                <a:ea typeface="Roca One"/>
                <a:cs typeface="Roca One"/>
                <a:sym typeface="Roca One"/>
              </a:rPr>
              <a:t>L</a:t>
            </a:r>
            <a:r>
              <a:rPr lang="en-US" sz="2627">
                <a:solidFill>
                  <a:srgbClr val="0F1C29"/>
                </a:solidFill>
                <a:latin typeface="Roca One"/>
                <a:ea typeface="Roca One"/>
                <a:cs typeface="Roca One"/>
                <a:sym typeface="Roca One"/>
              </a:rPr>
              <a:t>earn cloud-native application development</a:t>
            </a:r>
          </a:p>
          <a:p>
            <a:pPr algn="l">
              <a:lnSpc>
                <a:spcPts val="3941"/>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182505" y="1927941"/>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TECHNOLOGY STACK</a:t>
            </a:r>
          </a:p>
        </p:txBody>
      </p:sp>
      <p:sp>
        <p:nvSpPr>
          <p:cNvPr name="TextBox 30" id="30"/>
          <p:cNvSpPr txBox="true"/>
          <p:nvPr/>
        </p:nvSpPr>
        <p:spPr>
          <a:xfrm rot="0">
            <a:off x="5743736" y="3550174"/>
            <a:ext cx="10480932" cy="5424674"/>
          </a:xfrm>
          <a:prstGeom prst="rect">
            <a:avLst/>
          </a:prstGeom>
        </p:spPr>
        <p:txBody>
          <a:bodyPr anchor="t" rtlCol="false" tIns="0" lIns="0" bIns="0" rIns="0">
            <a:spAutoFit/>
          </a:bodyPr>
          <a:lstStyle/>
          <a:p>
            <a:pPr algn="l">
              <a:lnSpc>
                <a:spcPts val="3930"/>
              </a:lnSpc>
            </a:pPr>
            <a:r>
              <a:rPr lang="en-US" sz="2620" u="sng" b="true">
                <a:solidFill>
                  <a:srgbClr val="0F1C29"/>
                </a:solidFill>
                <a:latin typeface="Roca One Bold"/>
                <a:ea typeface="Roca One Bold"/>
                <a:cs typeface="Roca One Bold"/>
                <a:sym typeface="Roca One Bold"/>
              </a:rPr>
              <a:t>Technology </a:t>
            </a:r>
            <a:r>
              <a:rPr lang="en-US" sz="2620">
                <a:solidFill>
                  <a:srgbClr val="0F1C29"/>
                </a:solidFill>
                <a:latin typeface="Roca One"/>
                <a:ea typeface="Roca One"/>
                <a:cs typeface="Roca One"/>
                <a:sym typeface="Roca One"/>
              </a:rPr>
              <a:t>                                            </a:t>
            </a:r>
            <a:r>
              <a:rPr lang="en-US" sz="2620" u="sng" b="true">
                <a:solidFill>
                  <a:srgbClr val="0F1C29"/>
                </a:solidFill>
                <a:latin typeface="Roca One Bold"/>
                <a:ea typeface="Roca One Bold"/>
                <a:cs typeface="Roca One Bold"/>
                <a:sym typeface="Roca One Bold"/>
              </a:rPr>
              <a:t> Purpose</a:t>
            </a:r>
          </a:p>
          <a:p>
            <a:pPr algn="l">
              <a:lnSpc>
                <a:spcPts val="3930"/>
              </a:lnSpc>
            </a:pPr>
            <a:r>
              <a:rPr lang="en-US" sz="2620">
                <a:solidFill>
                  <a:srgbClr val="0F1C29"/>
                </a:solidFill>
                <a:latin typeface="Roca One"/>
                <a:ea typeface="Roca One"/>
                <a:cs typeface="Roca One"/>
                <a:sym typeface="Roca One"/>
              </a:rPr>
              <a:t>HTML                                                           Structure</a:t>
            </a:r>
          </a:p>
          <a:p>
            <a:pPr algn="l">
              <a:lnSpc>
                <a:spcPts val="3930"/>
              </a:lnSpc>
            </a:pPr>
            <a:r>
              <a:rPr lang="en-US" sz="2620">
                <a:solidFill>
                  <a:srgbClr val="0F1C29"/>
                </a:solidFill>
                <a:latin typeface="Roca One"/>
                <a:ea typeface="Roca One"/>
                <a:cs typeface="Roca One"/>
                <a:sym typeface="Roca One"/>
              </a:rPr>
              <a:t>CSS                                                                Styling</a:t>
            </a:r>
          </a:p>
          <a:p>
            <a:pPr algn="l">
              <a:lnSpc>
                <a:spcPts val="3930"/>
              </a:lnSpc>
            </a:pPr>
            <a:r>
              <a:rPr lang="en-US" sz="2620">
                <a:solidFill>
                  <a:srgbClr val="0F1C29"/>
                </a:solidFill>
                <a:latin typeface="Roca One"/>
                <a:ea typeface="Roca One"/>
                <a:cs typeface="Roca One"/>
                <a:sym typeface="Roca One"/>
              </a:rPr>
              <a:t>JavaScript                                                Client-side Logic</a:t>
            </a:r>
          </a:p>
          <a:p>
            <a:pPr algn="l">
              <a:lnSpc>
                <a:spcPts val="3930"/>
              </a:lnSpc>
            </a:pPr>
            <a:r>
              <a:rPr lang="en-US" sz="2620">
                <a:solidFill>
                  <a:srgbClr val="0F1C29"/>
                </a:solidFill>
                <a:latin typeface="Roca One"/>
                <a:ea typeface="Roca One"/>
                <a:cs typeface="Roca One"/>
                <a:sym typeface="Roca One"/>
              </a:rPr>
              <a:t>Node.js                                                        Backend Runtime</a:t>
            </a:r>
          </a:p>
          <a:p>
            <a:pPr algn="l">
              <a:lnSpc>
                <a:spcPts val="3930"/>
              </a:lnSpc>
            </a:pPr>
            <a:r>
              <a:rPr lang="en-US" sz="2620">
                <a:solidFill>
                  <a:srgbClr val="0F1C29"/>
                </a:solidFill>
                <a:latin typeface="Roca One"/>
                <a:ea typeface="Roca One"/>
                <a:cs typeface="Roca One"/>
                <a:sym typeface="Roca One"/>
              </a:rPr>
              <a:t>Express.js                                                 Server Framework</a:t>
            </a:r>
          </a:p>
          <a:p>
            <a:pPr algn="l">
              <a:lnSpc>
                <a:spcPts val="3930"/>
              </a:lnSpc>
            </a:pPr>
            <a:r>
              <a:rPr lang="en-US" sz="2620">
                <a:solidFill>
                  <a:srgbClr val="0F1C29"/>
                </a:solidFill>
                <a:latin typeface="Roca One"/>
                <a:ea typeface="Roca One"/>
                <a:cs typeface="Roca One"/>
                <a:sym typeface="Roca One"/>
              </a:rPr>
              <a:t>Docker                                                       Containerization</a:t>
            </a:r>
          </a:p>
          <a:p>
            <a:pPr algn="l">
              <a:lnSpc>
                <a:spcPts val="3930"/>
              </a:lnSpc>
            </a:pPr>
            <a:r>
              <a:rPr lang="en-US" sz="2620">
                <a:solidFill>
                  <a:srgbClr val="0F1C29"/>
                </a:solidFill>
                <a:latin typeface="Roca One"/>
                <a:ea typeface="Roca One"/>
                <a:cs typeface="Roca One"/>
                <a:sym typeface="Roca One"/>
              </a:rPr>
              <a:t>Git                                                                 Version Control</a:t>
            </a:r>
          </a:p>
          <a:p>
            <a:pPr algn="l">
              <a:lnSpc>
                <a:spcPts val="3930"/>
              </a:lnSpc>
            </a:pPr>
            <a:r>
              <a:rPr lang="en-US" sz="2620">
                <a:solidFill>
                  <a:srgbClr val="0F1C29"/>
                </a:solidFill>
                <a:latin typeface="Roca One"/>
                <a:ea typeface="Roca One"/>
                <a:cs typeface="Roca One"/>
                <a:sym typeface="Roca One"/>
              </a:rPr>
              <a:t>GitHub                                                       Repository Hosting    </a:t>
            </a:r>
          </a:p>
          <a:p>
            <a:pPr algn="l">
              <a:lnSpc>
                <a:spcPts val="3930"/>
              </a:lnSpc>
            </a:pPr>
          </a:p>
          <a:p>
            <a:pPr algn="l">
              <a:lnSpc>
                <a:spcPts val="393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336310" y="1340908"/>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SYSTEM ARCHITECTURE</a:t>
            </a:r>
          </a:p>
        </p:txBody>
      </p:sp>
      <p:sp>
        <p:nvSpPr>
          <p:cNvPr name="TextBox 30" id="30"/>
          <p:cNvSpPr txBox="true"/>
          <p:nvPr/>
        </p:nvSpPr>
        <p:spPr>
          <a:xfrm rot="0">
            <a:off x="3511016" y="3310446"/>
            <a:ext cx="11265968" cy="5947854"/>
          </a:xfrm>
          <a:prstGeom prst="rect">
            <a:avLst/>
          </a:prstGeom>
        </p:spPr>
        <p:txBody>
          <a:bodyPr anchor="t" rtlCol="false" tIns="0" lIns="0" bIns="0" rIns="0">
            <a:spAutoFit/>
          </a:bodyPr>
          <a:lstStyle/>
          <a:p>
            <a:pPr algn="ctr">
              <a:lnSpc>
                <a:spcPts val="5324"/>
              </a:lnSpc>
            </a:pPr>
            <a:r>
              <a:rPr lang="en-US" sz="3549">
                <a:solidFill>
                  <a:srgbClr val="0F1C29"/>
                </a:solidFill>
                <a:latin typeface="Roca One"/>
                <a:ea typeface="Roca One"/>
                <a:cs typeface="Roca One"/>
                <a:sym typeface="Roca One"/>
              </a:rPr>
              <a:t>   User</a:t>
            </a:r>
          </a:p>
          <a:p>
            <a:pPr algn="ctr">
              <a:lnSpc>
                <a:spcPts val="5324"/>
              </a:lnSpc>
            </a:pPr>
            <a:r>
              <a:rPr lang="en-US" sz="3549">
                <a:solidFill>
                  <a:srgbClr val="0F1C29"/>
                </a:solidFill>
                <a:latin typeface="Roca One"/>
                <a:ea typeface="Roca One"/>
                <a:cs typeface="Roca One"/>
                <a:sym typeface="Roca One"/>
              </a:rPr>
              <a:t>  │</a:t>
            </a:r>
          </a:p>
          <a:p>
            <a:pPr algn="ctr">
              <a:lnSpc>
                <a:spcPts val="5324"/>
              </a:lnSpc>
            </a:pPr>
            <a:r>
              <a:rPr lang="en-US" sz="3549">
                <a:solidFill>
                  <a:srgbClr val="0F1C29"/>
                </a:solidFill>
                <a:latin typeface="Roca One"/>
                <a:ea typeface="Roca One"/>
                <a:cs typeface="Roca One"/>
                <a:sym typeface="Roca One"/>
              </a:rPr>
              <a:t>   Web Browser</a:t>
            </a:r>
          </a:p>
          <a:p>
            <a:pPr algn="ctr">
              <a:lnSpc>
                <a:spcPts val="5324"/>
              </a:lnSpc>
            </a:pPr>
            <a:r>
              <a:rPr lang="en-US" sz="3549">
                <a:solidFill>
                  <a:srgbClr val="0F1C29"/>
                </a:solidFill>
                <a:latin typeface="Roca One"/>
                <a:ea typeface="Roca One"/>
                <a:cs typeface="Roca One"/>
                <a:sym typeface="Roca One"/>
              </a:rPr>
              <a:t> │</a:t>
            </a:r>
          </a:p>
          <a:p>
            <a:pPr algn="ctr">
              <a:lnSpc>
                <a:spcPts val="5324"/>
              </a:lnSpc>
            </a:pPr>
            <a:r>
              <a:rPr lang="en-US" sz="3549">
                <a:solidFill>
                  <a:srgbClr val="0F1C29"/>
                </a:solidFill>
                <a:latin typeface="Roca One"/>
                <a:ea typeface="Roca One"/>
                <a:cs typeface="Roca One"/>
                <a:sym typeface="Roca One"/>
              </a:rPr>
              <a:t>      Express Server</a:t>
            </a:r>
          </a:p>
          <a:p>
            <a:pPr algn="ctr">
              <a:lnSpc>
                <a:spcPts val="5324"/>
              </a:lnSpc>
            </a:pPr>
            <a:r>
              <a:rPr lang="en-US" sz="3549">
                <a:solidFill>
                  <a:srgbClr val="0F1C29"/>
                </a:solidFill>
                <a:latin typeface="Roca One"/>
                <a:ea typeface="Roca One"/>
                <a:cs typeface="Roca One"/>
                <a:sym typeface="Roca One"/>
              </a:rPr>
              <a:t>   │</a:t>
            </a:r>
          </a:p>
          <a:p>
            <a:pPr algn="ctr">
              <a:lnSpc>
                <a:spcPts val="5324"/>
              </a:lnSpc>
            </a:pPr>
            <a:r>
              <a:rPr lang="en-US" sz="3549">
                <a:solidFill>
                  <a:srgbClr val="0F1C29"/>
                </a:solidFill>
                <a:latin typeface="Roca One"/>
                <a:ea typeface="Roca One"/>
                <a:cs typeface="Roca One"/>
                <a:sym typeface="Roca One"/>
              </a:rPr>
              <a:t> Docker Container</a:t>
            </a:r>
          </a:p>
          <a:p>
            <a:pPr algn="ctr">
              <a:lnSpc>
                <a:spcPts val="5324"/>
              </a:lnSpc>
            </a:pPr>
            <a:r>
              <a:rPr lang="en-US" sz="3549">
                <a:solidFill>
                  <a:srgbClr val="0F1C29"/>
                </a:solidFill>
                <a:latin typeface="Roca One"/>
                <a:ea typeface="Roca One"/>
                <a:cs typeface="Roca One"/>
                <a:sym typeface="Roca One"/>
              </a:rPr>
              <a:t>    │</a:t>
            </a:r>
          </a:p>
          <a:p>
            <a:pPr algn="ctr">
              <a:lnSpc>
                <a:spcPts val="5324"/>
              </a:lnSpc>
            </a:pPr>
            <a:r>
              <a:rPr lang="en-US" sz="3549">
                <a:solidFill>
                  <a:srgbClr val="0F1C29"/>
                </a:solidFill>
                <a:latin typeface="Roca One"/>
                <a:ea typeface="Roca One"/>
                <a:cs typeface="Roca One"/>
                <a:sym typeface="Roca One"/>
              </a:rPr>
              <a:t>      Host Machine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028700" y="1544673"/>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WORKING ARCHITECTURE</a:t>
            </a:r>
          </a:p>
        </p:txBody>
      </p:sp>
      <p:sp>
        <p:nvSpPr>
          <p:cNvPr name="TextBox 30" id="30"/>
          <p:cNvSpPr txBox="true"/>
          <p:nvPr/>
        </p:nvSpPr>
        <p:spPr>
          <a:xfrm rot="0">
            <a:off x="3511016" y="3310446"/>
            <a:ext cx="11265968" cy="5947854"/>
          </a:xfrm>
          <a:prstGeom prst="rect">
            <a:avLst/>
          </a:prstGeom>
        </p:spPr>
        <p:txBody>
          <a:bodyPr anchor="t" rtlCol="false" tIns="0" lIns="0" bIns="0" rIns="0">
            <a:spAutoFit/>
          </a:bodyPr>
          <a:lstStyle/>
          <a:p>
            <a:pPr algn="ctr">
              <a:lnSpc>
                <a:spcPts val="5324"/>
              </a:lnSpc>
            </a:pPr>
            <a:r>
              <a:rPr lang="en-US" sz="3549">
                <a:solidFill>
                  <a:srgbClr val="0F1C29"/>
                </a:solidFill>
                <a:latin typeface="Roca One"/>
                <a:ea typeface="Roca One"/>
                <a:cs typeface="Roca One"/>
                <a:sym typeface="Roca One"/>
              </a:rPr>
              <a:t>User opens the application in the browser.</a:t>
            </a:r>
          </a:p>
          <a:p>
            <a:pPr algn="ctr">
              <a:lnSpc>
                <a:spcPts val="5324"/>
              </a:lnSpc>
            </a:pPr>
            <a:r>
              <a:rPr lang="en-US" sz="3549">
                <a:solidFill>
                  <a:srgbClr val="0F1C29"/>
                </a:solidFill>
                <a:latin typeface="Roca One"/>
                <a:ea typeface="Roca One"/>
                <a:cs typeface="Roca One"/>
                <a:sym typeface="Roca One"/>
              </a:rPr>
              <a:t>↓</a:t>
            </a:r>
          </a:p>
          <a:p>
            <a:pPr algn="ctr">
              <a:lnSpc>
                <a:spcPts val="5324"/>
              </a:lnSpc>
            </a:pPr>
            <a:r>
              <a:rPr lang="en-US" sz="3549">
                <a:solidFill>
                  <a:srgbClr val="0F1C29"/>
                </a:solidFill>
                <a:latin typeface="Roca One"/>
                <a:ea typeface="Roca One"/>
                <a:cs typeface="Roca One"/>
                <a:sym typeface="Roca One"/>
              </a:rPr>
              <a:t>Request</a:t>
            </a:r>
            <a:r>
              <a:rPr lang="en-US" sz="3549">
                <a:solidFill>
                  <a:srgbClr val="0F1C29"/>
                </a:solidFill>
                <a:latin typeface="Roca One"/>
                <a:ea typeface="Roca One"/>
                <a:cs typeface="Roca One"/>
                <a:sym typeface="Roca One"/>
              </a:rPr>
              <a:t> reaches Express Server.</a:t>
            </a:r>
          </a:p>
          <a:p>
            <a:pPr algn="ctr">
              <a:lnSpc>
                <a:spcPts val="5324"/>
              </a:lnSpc>
            </a:pPr>
            <a:r>
              <a:rPr lang="en-US" sz="3549">
                <a:solidFill>
                  <a:srgbClr val="0F1C29"/>
                </a:solidFill>
                <a:latin typeface="Roca One"/>
                <a:ea typeface="Roca One"/>
                <a:cs typeface="Roca One"/>
                <a:sym typeface="Roca One"/>
              </a:rPr>
              <a:t>↓</a:t>
            </a:r>
          </a:p>
          <a:p>
            <a:pPr algn="ctr">
              <a:lnSpc>
                <a:spcPts val="5324"/>
              </a:lnSpc>
            </a:pPr>
            <a:r>
              <a:rPr lang="en-US" sz="3549">
                <a:solidFill>
                  <a:srgbClr val="0F1C29"/>
                </a:solidFill>
                <a:latin typeface="Roca One"/>
                <a:ea typeface="Roca One"/>
                <a:cs typeface="Roca One"/>
                <a:sym typeface="Roca One"/>
              </a:rPr>
              <a:t>Application runs inside</a:t>
            </a:r>
            <a:r>
              <a:rPr lang="en-US" sz="3549">
                <a:solidFill>
                  <a:srgbClr val="0F1C29"/>
                </a:solidFill>
                <a:latin typeface="Roca One"/>
                <a:ea typeface="Roca One"/>
                <a:cs typeface="Roca One"/>
                <a:sym typeface="Roca One"/>
              </a:rPr>
              <a:t> Docker Container.</a:t>
            </a:r>
          </a:p>
          <a:p>
            <a:pPr algn="ctr">
              <a:lnSpc>
                <a:spcPts val="5324"/>
              </a:lnSpc>
            </a:pPr>
            <a:r>
              <a:rPr lang="en-US" sz="3549">
                <a:solidFill>
                  <a:srgbClr val="0F1C29"/>
                </a:solidFill>
                <a:latin typeface="Roca One"/>
                <a:ea typeface="Roca One"/>
                <a:cs typeface="Roca One"/>
                <a:sym typeface="Roca One"/>
              </a:rPr>
              <a:t>↓</a:t>
            </a:r>
          </a:p>
          <a:p>
            <a:pPr algn="ctr">
              <a:lnSpc>
                <a:spcPts val="5324"/>
              </a:lnSpc>
            </a:pPr>
            <a:r>
              <a:rPr lang="en-US" sz="3549">
                <a:solidFill>
                  <a:srgbClr val="0F1C29"/>
                </a:solidFill>
                <a:latin typeface="Roca One"/>
                <a:ea typeface="Roca One"/>
                <a:cs typeface="Roca One"/>
                <a:sym typeface="Roca One"/>
              </a:rPr>
              <a:t>Resp</a:t>
            </a:r>
            <a:r>
              <a:rPr lang="en-US" sz="3549">
                <a:solidFill>
                  <a:srgbClr val="0F1C29"/>
                </a:solidFill>
                <a:latin typeface="Roca One"/>
                <a:ea typeface="Roca One"/>
                <a:cs typeface="Roca One"/>
                <a:sym typeface="Roca One"/>
              </a:rPr>
              <a:t>onse is sent back to the user.</a:t>
            </a:r>
          </a:p>
          <a:p>
            <a:pPr algn="ctr">
              <a:lnSpc>
                <a:spcPts val="5324"/>
              </a:lnSpc>
            </a:pPr>
          </a:p>
          <a:p>
            <a:pPr algn="ctr">
              <a:lnSpc>
                <a:spcPts val="5324"/>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028700" y="1544673"/>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PROJECT ARCHITECTURE</a:t>
            </a:r>
          </a:p>
        </p:txBody>
      </p:sp>
      <p:sp>
        <p:nvSpPr>
          <p:cNvPr name="TextBox 30" id="30"/>
          <p:cNvSpPr txBox="true"/>
          <p:nvPr/>
        </p:nvSpPr>
        <p:spPr>
          <a:xfrm rot="0">
            <a:off x="2974199" y="2192373"/>
            <a:ext cx="15313801" cy="6730601"/>
          </a:xfrm>
          <a:prstGeom prst="rect">
            <a:avLst/>
          </a:prstGeom>
        </p:spPr>
        <p:txBody>
          <a:bodyPr anchor="t" rtlCol="false" tIns="0" lIns="0" bIns="0" rIns="0">
            <a:spAutoFit/>
          </a:bodyPr>
          <a:lstStyle/>
          <a:p>
            <a:pPr algn="l">
              <a:lnSpc>
                <a:spcPts val="5390"/>
              </a:lnSpc>
            </a:pPr>
          </a:p>
          <a:p>
            <a:pPr algn="l">
              <a:lnSpc>
                <a:spcPts val="5390"/>
              </a:lnSpc>
            </a:pPr>
            <a:r>
              <a:rPr lang="en-US" sz="3593">
                <a:solidFill>
                  <a:srgbClr val="0F1C29"/>
                </a:solidFill>
                <a:latin typeface="Roca One"/>
                <a:ea typeface="Roca One"/>
                <a:cs typeface="Roca One"/>
                <a:sym typeface="Roca One"/>
              </a:rPr>
              <a:t>publi</a:t>
            </a:r>
            <a:r>
              <a:rPr lang="en-US" sz="3593">
                <a:solidFill>
                  <a:srgbClr val="0F1C29"/>
                </a:solidFill>
                <a:latin typeface="Roca One"/>
                <a:ea typeface="Roca One"/>
                <a:cs typeface="Roca One"/>
                <a:sym typeface="Roca One"/>
              </a:rPr>
              <a:t>c</a:t>
            </a:r>
          </a:p>
          <a:p>
            <a:pPr algn="l">
              <a:lnSpc>
                <a:spcPts val="5390"/>
              </a:lnSpc>
            </a:pPr>
            <a:r>
              <a:rPr lang="en-US" sz="3593">
                <a:solidFill>
                  <a:srgbClr val="0F1C29"/>
                </a:solidFill>
                <a:latin typeface="Roca One"/>
                <a:ea typeface="Roca One"/>
                <a:cs typeface="Roca One"/>
                <a:sym typeface="Roca One"/>
              </a:rPr>
              <a:t>      </a:t>
            </a:r>
            <a:r>
              <a:rPr lang="en-US" sz="3593">
                <a:solidFill>
                  <a:srgbClr val="0F1C29"/>
                </a:solidFill>
                <a:latin typeface="Roca One"/>
                <a:ea typeface="Roca One"/>
                <a:cs typeface="Roca One"/>
                <a:sym typeface="Roca One"/>
              </a:rPr>
              <a:t>├── css</a:t>
            </a:r>
          </a:p>
          <a:p>
            <a:pPr algn="l">
              <a:lnSpc>
                <a:spcPts val="5390"/>
              </a:lnSpc>
            </a:pPr>
            <a:r>
              <a:rPr lang="en-US" sz="3593">
                <a:solidFill>
                  <a:srgbClr val="0F1C29"/>
                </a:solidFill>
                <a:latin typeface="Roca One"/>
                <a:ea typeface="Roca One"/>
                <a:cs typeface="Roca One"/>
                <a:sym typeface="Roca One"/>
              </a:rPr>
              <a:t>      ├── js</a:t>
            </a:r>
          </a:p>
          <a:p>
            <a:pPr algn="l">
              <a:lnSpc>
                <a:spcPts val="5390"/>
              </a:lnSpc>
            </a:pPr>
            <a:r>
              <a:rPr lang="en-US" sz="3593">
                <a:solidFill>
                  <a:srgbClr val="0F1C29"/>
                </a:solidFill>
                <a:latin typeface="Roca One"/>
                <a:ea typeface="Roca One"/>
                <a:cs typeface="Roca One"/>
                <a:sym typeface="Roca One"/>
              </a:rPr>
              <a:t>      </a:t>
            </a:r>
            <a:r>
              <a:rPr lang="en-US" sz="3593">
                <a:solidFill>
                  <a:srgbClr val="0F1C29"/>
                </a:solidFill>
                <a:latin typeface="Roca One"/>
                <a:ea typeface="Roca One"/>
                <a:cs typeface="Roca One"/>
                <a:sym typeface="Roca One"/>
              </a:rPr>
              <a:t>└── index.html</a:t>
            </a:r>
          </a:p>
          <a:p>
            <a:pPr algn="l">
              <a:lnSpc>
                <a:spcPts val="5390"/>
              </a:lnSpc>
            </a:pPr>
            <a:r>
              <a:rPr lang="en-US" sz="3593">
                <a:solidFill>
                  <a:srgbClr val="0F1C29"/>
                </a:solidFill>
                <a:latin typeface="Roca One"/>
                <a:ea typeface="Roca One"/>
                <a:cs typeface="Roca One"/>
                <a:sym typeface="Roca One"/>
              </a:rPr>
              <a:t>├── server.js</a:t>
            </a:r>
          </a:p>
          <a:p>
            <a:pPr algn="l">
              <a:lnSpc>
                <a:spcPts val="5390"/>
              </a:lnSpc>
            </a:pPr>
            <a:r>
              <a:rPr lang="en-US" sz="3593">
                <a:solidFill>
                  <a:srgbClr val="0F1C29"/>
                </a:solidFill>
                <a:latin typeface="Roca One"/>
                <a:ea typeface="Roca One"/>
                <a:cs typeface="Roca One"/>
                <a:sym typeface="Roca One"/>
              </a:rPr>
              <a:t>├── package.json</a:t>
            </a:r>
          </a:p>
          <a:p>
            <a:pPr algn="l">
              <a:lnSpc>
                <a:spcPts val="5390"/>
              </a:lnSpc>
            </a:pPr>
            <a:r>
              <a:rPr lang="en-US" sz="3593">
                <a:solidFill>
                  <a:srgbClr val="0F1C29"/>
                </a:solidFill>
                <a:latin typeface="Roca One"/>
                <a:ea typeface="Roca One"/>
                <a:cs typeface="Roca One"/>
                <a:sym typeface="Roca One"/>
              </a:rPr>
              <a:t>├──</a:t>
            </a:r>
            <a:r>
              <a:rPr lang="en-US" sz="3593">
                <a:solidFill>
                  <a:srgbClr val="0F1C29"/>
                </a:solidFill>
                <a:latin typeface="Roca One"/>
                <a:ea typeface="Roca One"/>
                <a:cs typeface="Roca One"/>
                <a:sym typeface="Roca One"/>
              </a:rPr>
              <a:t> Dockerfile</a:t>
            </a:r>
          </a:p>
          <a:p>
            <a:pPr algn="l">
              <a:lnSpc>
                <a:spcPts val="5390"/>
              </a:lnSpc>
            </a:pPr>
            <a:r>
              <a:rPr lang="en-US" sz="3593">
                <a:solidFill>
                  <a:srgbClr val="0F1C29"/>
                </a:solidFill>
                <a:latin typeface="Roca One"/>
                <a:ea typeface="Roca One"/>
                <a:cs typeface="Roca One"/>
                <a:sym typeface="Roca One"/>
              </a:rPr>
              <a:t>├── README.md</a:t>
            </a:r>
          </a:p>
          <a:p>
            <a:pPr algn="l">
              <a:lnSpc>
                <a:spcPts val="5390"/>
              </a:lnSpc>
            </a:pPr>
            <a:r>
              <a:rPr lang="en-US" sz="3593">
                <a:solidFill>
                  <a:srgbClr val="0F1C29"/>
                </a:solidFill>
                <a:latin typeface="Roca One"/>
                <a:ea typeface="Roca One"/>
                <a:cs typeface="Roca One"/>
                <a:sym typeface="Roca One"/>
              </a:rPr>
              <a:t>└── .d</a:t>
            </a:r>
            <a:r>
              <a:rPr lang="en-US" sz="3593">
                <a:solidFill>
                  <a:srgbClr val="0F1C29"/>
                </a:solidFill>
                <a:latin typeface="Roca One"/>
                <a:ea typeface="Roca One"/>
                <a:cs typeface="Roca One"/>
                <a:sym typeface="Roca One"/>
              </a:rPr>
              <a:t>ockerignore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028700" y="1131177"/>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DOCKER WORKFLOW</a:t>
            </a:r>
          </a:p>
        </p:txBody>
      </p:sp>
      <p:sp>
        <p:nvSpPr>
          <p:cNvPr name="TextBox 30" id="30"/>
          <p:cNvSpPr txBox="true"/>
          <p:nvPr/>
        </p:nvSpPr>
        <p:spPr>
          <a:xfrm rot="0">
            <a:off x="5100795" y="2350377"/>
            <a:ext cx="8984069" cy="7610229"/>
          </a:xfrm>
          <a:prstGeom prst="rect">
            <a:avLst/>
          </a:prstGeom>
        </p:spPr>
        <p:txBody>
          <a:bodyPr anchor="t" rtlCol="false" tIns="0" lIns="0" bIns="0" rIns="0">
            <a:spAutoFit/>
          </a:bodyPr>
          <a:lstStyle/>
          <a:p>
            <a:pPr algn="ctr">
              <a:lnSpc>
                <a:spcPts val="5506"/>
              </a:lnSpc>
            </a:pPr>
            <a:r>
              <a:rPr lang="en-US" sz="3670">
                <a:solidFill>
                  <a:srgbClr val="0F1C29"/>
                </a:solidFill>
                <a:latin typeface="Roca One"/>
                <a:ea typeface="Roca One"/>
                <a:cs typeface="Roca One"/>
                <a:sym typeface="Roca One"/>
              </a:rPr>
              <a:t>Appli</a:t>
            </a:r>
            <a:r>
              <a:rPr lang="en-US" sz="3670">
                <a:solidFill>
                  <a:srgbClr val="0F1C29"/>
                </a:solidFill>
                <a:latin typeface="Roca One"/>
                <a:ea typeface="Roca One"/>
                <a:cs typeface="Roca One"/>
                <a:sym typeface="Roca One"/>
              </a:rPr>
              <a:t>cation Code</a:t>
            </a:r>
          </a:p>
          <a:p>
            <a:pPr algn="ctr">
              <a:lnSpc>
                <a:spcPts val="5506"/>
              </a:lnSpc>
            </a:pPr>
            <a:r>
              <a:rPr lang="en-US" sz="3670">
                <a:solidFill>
                  <a:srgbClr val="0F1C29"/>
                </a:solidFill>
                <a:latin typeface="Roca One"/>
                <a:ea typeface="Roca One"/>
                <a:cs typeface="Roca One"/>
                <a:sym typeface="Roca One"/>
              </a:rPr>
              <a:t>↓</a:t>
            </a:r>
          </a:p>
          <a:p>
            <a:pPr algn="ctr">
              <a:lnSpc>
                <a:spcPts val="5506"/>
              </a:lnSpc>
            </a:pPr>
            <a:r>
              <a:rPr lang="en-US" sz="3670">
                <a:solidFill>
                  <a:srgbClr val="0F1C29"/>
                </a:solidFill>
                <a:latin typeface="Roca One"/>
                <a:ea typeface="Roca One"/>
                <a:cs typeface="Roca One"/>
                <a:sym typeface="Roca One"/>
              </a:rPr>
              <a:t>Dockerfile</a:t>
            </a:r>
          </a:p>
          <a:p>
            <a:pPr algn="ctr">
              <a:lnSpc>
                <a:spcPts val="5506"/>
              </a:lnSpc>
            </a:pPr>
            <a:r>
              <a:rPr lang="en-US" sz="3670">
                <a:solidFill>
                  <a:srgbClr val="0F1C29"/>
                </a:solidFill>
                <a:latin typeface="Roca One"/>
                <a:ea typeface="Roca One"/>
                <a:cs typeface="Roca One"/>
                <a:sym typeface="Roca One"/>
              </a:rPr>
              <a:t>↓</a:t>
            </a:r>
          </a:p>
          <a:p>
            <a:pPr algn="ctr">
              <a:lnSpc>
                <a:spcPts val="5506"/>
              </a:lnSpc>
            </a:pPr>
            <a:r>
              <a:rPr lang="en-US" sz="3670">
                <a:solidFill>
                  <a:srgbClr val="0F1C29"/>
                </a:solidFill>
                <a:latin typeface="Roca One"/>
                <a:ea typeface="Roca One"/>
                <a:cs typeface="Roca One"/>
                <a:sym typeface="Roca One"/>
              </a:rPr>
              <a:t>Docker Build</a:t>
            </a:r>
          </a:p>
          <a:p>
            <a:pPr algn="ctr">
              <a:lnSpc>
                <a:spcPts val="5506"/>
              </a:lnSpc>
            </a:pPr>
            <a:r>
              <a:rPr lang="en-US" sz="3670">
                <a:solidFill>
                  <a:srgbClr val="0F1C29"/>
                </a:solidFill>
                <a:latin typeface="Roca One"/>
                <a:ea typeface="Roca One"/>
                <a:cs typeface="Roca One"/>
                <a:sym typeface="Roca One"/>
              </a:rPr>
              <a:t>↓</a:t>
            </a:r>
          </a:p>
          <a:p>
            <a:pPr algn="ctr">
              <a:lnSpc>
                <a:spcPts val="5506"/>
              </a:lnSpc>
            </a:pPr>
            <a:r>
              <a:rPr lang="en-US" sz="3670">
                <a:solidFill>
                  <a:srgbClr val="0F1C29"/>
                </a:solidFill>
                <a:latin typeface="Roca One"/>
                <a:ea typeface="Roca One"/>
                <a:cs typeface="Roca One"/>
                <a:sym typeface="Roca One"/>
              </a:rPr>
              <a:t>Dock</a:t>
            </a:r>
            <a:r>
              <a:rPr lang="en-US" sz="3670">
                <a:solidFill>
                  <a:srgbClr val="0F1C29"/>
                </a:solidFill>
                <a:latin typeface="Roca One"/>
                <a:ea typeface="Roca One"/>
                <a:cs typeface="Roca One"/>
                <a:sym typeface="Roca One"/>
              </a:rPr>
              <a:t>er</a:t>
            </a:r>
            <a:r>
              <a:rPr lang="en-US" sz="3670">
                <a:solidFill>
                  <a:srgbClr val="0F1C29"/>
                </a:solidFill>
                <a:latin typeface="Roca One"/>
                <a:ea typeface="Roca One"/>
                <a:cs typeface="Roca One"/>
                <a:sym typeface="Roca One"/>
              </a:rPr>
              <a:t> Image</a:t>
            </a:r>
          </a:p>
          <a:p>
            <a:pPr algn="ctr">
              <a:lnSpc>
                <a:spcPts val="5506"/>
              </a:lnSpc>
            </a:pPr>
            <a:r>
              <a:rPr lang="en-US" sz="3670">
                <a:solidFill>
                  <a:srgbClr val="0F1C29"/>
                </a:solidFill>
                <a:latin typeface="Roca One"/>
                <a:ea typeface="Roca One"/>
                <a:cs typeface="Roca One"/>
                <a:sym typeface="Roca One"/>
              </a:rPr>
              <a:t>↓</a:t>
            </a:r>
          </a:p>
          <a:p>
            <a:pPr algn="ctr">
              <a:lnSpc>
                <a:spcPts val="5506"/>
              </a:lnSpc>
            </a:pPr>
            <a:r>
              <a:rPr lang="en-US" sz="3670">
                <a:solidFill>
                  <a:srgbClr val="0F1C29"/>
                </a:solidFill>
                <a:latin typeface="Roca One"/>
                <a:ea typeface="Roca One"/>
                <a:cs typeface="Roca One"/>
                <a:sym typeface="Roca One"/>
              </a:rPr>
              <a:t>Docker Container</a:t>
            </a:r>
          </a:p>
          <a:p>
            <a:pPr algn="ctr">
              <a:lnSpc>
                <a:spcPts val="5506"/>
              </a:lnSpc>
            </a:pPr>
            <a:r>
              <a:rPr lang="en-US" sz="3670">
                <a:solidFill>
                  <a:srgbClr val="0F1C29"/>
                </a:solidFill>
                <a:latin typeface="Roca One"/>
                <a:ea typeface="Roca One"/>
                <a:cs typeface="Roca One"/>
                <a:sym typeface="Roca One"/>
              </a:rPr>
              <a:t>↓</a:t>
            </a:r>
          </a:p>
          <a:p>
            <a:pPr algn="ctr">
              <a:lnSpc>
                <a:spcPts val="5506"/>
              </a:lnSpc>
            </a:pPr>
            <a:r>
              <a:rPr lang="en-US" sz="3670">
                <a:solidFill>
                  <a:srgbClr val="0F1C29"/>
                </a:solidFill>
                <a:latin typeface="Roca One"/>
                <a:ea typeface="Roca One"/>
                <a:cs typeface="Roca One"/>
                <a:sym typeface="Roca One"/>
              </a:rPr>
              <a:t>Appli</a:t>
            </a:r>
            <a:r>
              <a:rPr lang="en-US" sz="3670">
                <a:solidFill>
                  <a:srgbClr val="0F1C29"/>
                </a:solidFill>
                <a:latin typeface="Roca One"/>
                <a:ea typeface="Roca One"/>
                <a:cs typeface="Roca One"/>
                <a:sym typeface="Roca One"/>
              </a:rPr>
              <a:t>cation Running</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028700" y="1131177"/>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COMMAND USED</a:t>
            </a:r>
          </a:p>
        </p:txBody>
      </p:sp>
      <p:sp>
        <p:nvSpPr>
          <p:cNvPr name="TextBox 30" id="30"/>
          <p:cNvSpPr txBox="true"/>
          <p:nvPr/>
        </p:nvSpPr>
        <p:spPr>
          <a:xfrm rot="0">
            <a:off x="3367650" y="3440581"/>
            <a:ext cx="13261024" cy="4832197"/>
          </a:xfrm>
          <a:prstGeom prst="rect">
            <a:avLst/>
          </a:prstGeom>
        </p:spPr>
        <p:txBody>
          <a:bodyPr anchor="t" rtlCol="false" tIns="0" lIns="0" bIns="0" rIns="0">
            <a:spAutoFit/>
          </a:bodyPr>
          <a:lstStyle/>
          <a:p>
            <a:pPr algn="l">
              <a:lnSpc>
                <a:spcPts val="5506"/>
              </a:lnSpc>
            </a:pPr>
            <a:r>
              <a:rPr lang="en-US" sz="3670">
                <a:solidFill>
                  <a:srgbClr val="0F1C29"/>
                </a:solidFill>
                <a:latin typeface="Roca One"/>
                <a:ea typeface="Roca One"/>
                <a:cs typeface="Roca One"/>
                <a:sym typeface="Roca One"/>
              </a:rPr>
              <a:t>docker build -t task-management-app .</a:t>
            </a:r>
          </a:p>
          <a:p>
            <a:pPr algn="l">
              <a:lnSpc>
                <a:spcPts val="5506"/>
              </a:lnSpc>
            </a:pPr>
          </a:p>
          <a:p>
            <a:pPr algn="l">
              <a:lnSpc>
                <a:spcPts val="5506"/>
              </a:lnSpc>
            </a:pPr>
            <a:r>
              <a:rPr lang="en-US" sz="3670">
                <a:solidFill>
                  <a:srgbClr val="0F1C29"/>
                </a:solidFill>
                <a:latin typeface="Roca One"/>
                <a:ea typeface="Roca One"/>
                <a:cs typeface="Roca One"/>
                <a:sym typeface="Roca One"/>
              </a:rPr>
              <a:t>docker run -d -p 3000:3000 task-management-app</a:t>
            </a:r>
          </a:p>
          <a:p>
            <a:pPr algn="l">
              <a:lnSpc>
                <a:spcPts val="5506"/>
              </a:lnSpc>
            </a:pPr>
          </a:p>
          <a:p>
            <a:pPr algn="l">
              <a:lnSpc>
                <a:spcPts val="5506"/>
              </a:lnSpc>
            </a:pPr>
            <a:r>
              <a:rPr lang="en-US" sz="3670">
                <a:solidFill>
                  <a:srgbClr val="0F1C29"/>
                </a:solidFill>
                <a:latin typeface="Roca One"/>
                <a:ea typeface="Roca One"/>
                <a:cs typeface="Roca One"/>
                <a:sym typeface="Roca One"/>
              </a:rPr>
              <a:t>dock</a:t>
            </a:r>
            <a:r>
              <a:rPr lang="en-US" sz="3670">
                <a:solidFill>
                  <a:srgbClr val="0F1C29"/>
                </a:solidFill>
                <a:latin typeface="Roca One"/>
                <a:ea typeface="Roca One"/>
                <a:cs typeface="Roca One"/>
                <a:sym typeface="Roca One"/>
              </a:rPr>
              <a:t>er</a:t>
            </a:r>
            <a:r>
              <a:rPr lang="en-US" sz="3670">
                <a:solidFill>
                  <a:srgbClr val="0F1C29"/>
                </a:solidFill>
                <a:latin typeface="Roca One"/>
                <a:ea typeface="Roca One"/>
                <a:cs typeface="Roca One"/>
                <a:sym typeface="Roca One"/>
              </a:rPr>
              <a:t> ps</a:t>
            </a:r>
          </a:p>
          <a:p>
            <a:pPr algn="l">
              <a:lnSpc>
                <a:spcPts val="5506"/>
              </a:lnSpc>
            </a:pPr>
          </a:p>
          <a:p>
            <a:pPr algn="l">
              <a:lnSpc>
                <a:spcPts val="5506"/>
              </a:lnSpc>
            </a:pPr>
            <a:r>
              <a:rPr lang="en-US" sz="3670">
                <a:solidFill>
                  <a:srgbClr val="0F1C29"/>
                </a:solidFill>
                <a:latin typeface="Roca One"/>
                <a:ea typeface="Roca One"/>
                <a:cs typeface="Roca One"/>
                <a:sym typeface="Roca One"/>
              </a:rPr>
              <a:t>d</a:t>
            </a:r>
            <a:r>
              <a:rPr lang="en-US" sz="3670">
                <a:solidFill>
                  <a:srgbClr val="0F1C29"/>
                </a:solidFill>
                <a:latin typeface="Roca One"/>
                <a:ea typeface="Roca One"/>
                <a:cs typeface="Roca One"/>
                <a:sym typeface="Roca One"/>
              </a:rPr>
              <a:t>ocker stop &lt;container-</a:t>
            </a:r>
            <a:r>
              <a:rPr lang="en-US" sz="3670">
                <a:solidFill>
                  <a:srgbClr val="0F1C29"/>
                </a:solidFill>
                <a:latin typeface="Roca One"/>
                <a:ea typeface="Roca One"/>
                <a:cs typeface="Roca One"/>
                <a:sym typeface="Roca One"/>
              </a:rPr>
              <a:t>id&gt;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028700" y="1131177"/>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KEY FEATURES</a:t>
            </a:r>
          </a:p>
        </p:txBody>
      </p:sp>
      <p:sp>
        <p:nvSpPr>
          <p:cNvPr name="TextBox 30" id="30"/>
          <p:cNvSpPr txBox="true"/>
          <p:nvPr/>
        </p:nvSpPr>
        <p:spPr>
          <a:xfrm rot="0">
            <a:off x="2137676" y="3440581"/>
            <a:ext cx="14490998" cy="5527522"/>
          </a:xfrm>
          <a:prstGeom prst="rect">
            <a:avLst/>
          </a:prstGeom>
        </p:spPr>
        <p:txBody>
          <a:bodyPr anchor="t" rtlCol="false" tIns="0" lIns="0" bIns="0" rIns="0">
            <a:spAutoFit/>
          </a:bodyPr>
          <a:lstStyle/>
          <a:p>
            <a:pPr algn="l">
              <a:lnSpc>
                <a:spcPts val="5506"/>
              </a:lnSpc>
            </a:pPr>
            <a:r>
              <a:rPr lang="en-US" sz="3670">
                <a:solidFill>
                  <a:srgbClr val="0F1C29"/>
                </a:solidFill>
                <a:latin typeface="Roca One"/>
                <a:ea typeface="Roca One"/>
                <a:cs typeface="Roca One"/>
                <a:sym typeface="Roca One"/>
              </a:rPr>
              <a:t>✔ Add New Tasks</a:t>
            </a:r>
          </a:p>
          <a:p>
            <a:pPr algn="l">
              <a:lnSpc>
                <a:spcPts val="5506"/>
              </a:lnSpc>
            </a:pPr>
            <a:r>
              <a:rPr lang="en-US" sz="3670">
                <a:solidFill>
                  <a:srgbClr val="0F1C29"/>
                </a:solidFill>
                <a:latin typeface="Roca One"/>
                <a:ea typeface="Roca One"/>
                <a:cs typeface="Roca One"/>
                <a:sym typeface="Roca One"/>
              </a:rPr>
              <a:t>✔ Edit Existing Tasks</a:t>
            </a:r>
          </a:p>
          <a:p>
            <a:pPr algn="l">
              <a:lnSpc>
                <a:spcPts val="5506"/>
              </a:lnSpc>
            </a:pPr>
            <a:r>
              <a:rPr lang="en-US" sz="3670">
                <a:solidFill>
                  <a:srgbClr val="0F1C29"/>
                </a:solidFill>
                <a:latin typeface="Roca One"/>
                <a:ea typeface="Roca One"/>
                <a:cs typeface="Roca One"/>
                <a:sym typeface="Roca One"/>
              </a:rPr>
              <a:t>✔ Delete Tasks</a:t>
            </a:r>
          </a:p>
          <a:p>
            <a:pPr algn="l">
              <a:lnSpc>
                <a:spcPts val="5506"/>
              </a:lnSpc>
            </a:pPr>
            <a:r>
              <a:rPr lang="en-US" sz="3670">
                <a:solidFill>
                  <a:srgbClr val="0F1C29"/>
                </a:solidFill>
                <a:latin typeface="Roca One"/>
                <a:ea typeface="Roca One"/>
                <a:cs typeface="Roca One"/>
                <a:sym typeface="Roca One"/>
              </a:rPr>
              <a:t>✔ Mark Tasks as Completed</a:t>
            </a:r>
          </a:p>
          <a:p>
            <a:pPr algn="l">
              <a:lnSpc>
                <a:spcPts val="5506"/>
              </a:lnSpc>
            </a:pPr>
            <a:r>
              <a:rPr lang="en-US" sz="3670">
                <a:solidFill>
                  <a:srgbClr val="0F1C29"/>
                </a:solidFill>
                <a:latin typeface="Roca One"/>
                <a:ea typeface="Roca One"/>
                <a:cs typeface="Roca One"/>
                <a:sym typeface="Roca One"/>
              </a:rPr>
              <a:t>✔ Responsive User Interfac</a:t>
            </a:r>
            <a:r>
              <a:rPr lang="en-US" sz="3670">
                <a:solidFill>
                  <a:srgbClr val="0F1C29"/>
                </a:solidFill>
                <a:latin typeface="Roca One"/>
                <a:ea typeface="Roca One"/>
                <a:cs typeface="Roca One"/>
                <a:sym typeface="Roca One"/>
              </a:rPr>
              <a:t>e</a:t>
            </a:r>
          </a:p>
          <a:p>
            <a:pPr algn="l">
              <a:lnSpc>
                <a:spcPts val="5506"/>
              </a:lnSpc>
            </a:pPr>
            <a:r>
              <a:rPr lang="en-US" sz="3670">
                <a:solidFill>
                  <a:srgbClr val="0F1C29"/>
                </a:solidFill>
                <a:latin typeface="Roca One"/>
                <a:ea typeface="Roca One"/>
                <a:cs typeface="Roca One"/>
                <a:sym typeface="Roca One"/>
              </a:rPr>
              <a:t>✔</a:t>
            </a:r>
            <a:r>
              <a:rPr lang="en-US" sz="3670">
                <a:solidFill>
                  <a:srgbClr val="0F1C29"/>
                </a:solidFill>
                <a:latin typeface="Roca One"/>
                <a:ea typeface="Roca One"/>
                <a:cs typeface="Roca One"/>
                <a:sym typeface="Roca One"/>
              </a:rPr>
              <a:t> Fast Performance</a:t>
            </a:r>
          </a:p>
          <a:p>
            <a:pPr algn="l">
              <a:lnSpc>
                <a:spcPts val="5506"/>
              </a:lnSpc>
            </a:pPr>
            <a:r>
              <a:rPr lang="en-US" sz="3670">
                <a:solidFill>
                  <a:srgbClr val="0F1C29"/>
                </a:solidFill>
                <a:latin typeface="Roca One"/>
                <a:ea typeface="Roca One"/>
                <a:cs typeface="Roca One"/>
                <a:sym typeface="Roca One"/>
              </a:rPr>
              <a:t>✔ D</a:t>
            </a:r>
            <a:r>
              <a:rPr lang="en-US" sz="3670">
                <a:solidFill>
                  <a:srgbClr val="0F1C29"/>
                </a:solidFill>
                <a:latin typeface="Roca One"/>
                <a:ea typeface="Roca One"/>
                <a:cs typeface="Roca One"/>
                <a:sym typeface="Roca One"/>
              </a:rPr>
              <a:t>ockerized Deployment</a:t>
            </a:r>
          </a:p>
          <a:p>
            <a:pPr algn="l">
              <a:lnSpc>
                <a:spcPts val="5506"/>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602604" y="2276419"/>
            <a:ext cx="13082791" cy="7355491"/>
          </a:xfrm>
          <a:custGeom>
            <a:avLst/>
            <a:gdLst/>
            <a:ahLst/>
            <a:cxnLst/>
            <a:rect r="r" b="b" t="t" l="l"/>
            <a:pathLst>
              <a:path h="7355491" w="13082791">
                <a:moveTo>
                  <a:pt x="0" y="0"/>
                </a:moveTo>
                <a:lnTo>
                  <a:pt x="13082792" y="0"/>
                </a:lnTo>
                <a:lnTo>
                  <a:pt x="13082792" y="7355491"/>
                </a:lnTo>
                <a:lnTo>
                  <a:pt x="0" y="7355491"/>
                </a:lnTo>
                <a:lnTo>
                  <a:pt x="0" y="0"/>
                </a:lnTo>
                <a:close/>
              </a:path>
            </a:pathLst>
          </a:custGeom>
          <a:blipFill>
            <a:blip r:embed="rId2"/>
            <a:stretch>
              <a:fillRect l="0" t="0" r="0" b="0"/>
            </a:stretch>
          </a:blipFill>
        </p:spPr>
      </p:sp>
      <p:sp>
        <p:nvSpPr>
          <p:cNvPr name="TextBox 3" id="3"/>
          <p:cNvSpPr txBox="true"/>
          <p:nvPr/>
        </p:nvSpPr>
        <p:spPr>
          <a:xfrm rot="0">
            <a:off x="4734264" y="512373"/>
            <a:ext cx="8819473" cy="1496545"/>
          </a:xfrm>
          <a:prstGeom prst="rect">
            <a:avLst/>
          </a:prstGeom>
        </p:spPr>
        <p:txBody>
          <a:bodyPr anchor="t" rtlCol="false" tIns="0" lIns="0" bIns="0" rIns="0">
            <a:spAutoFit/>
          </a:bodyPr>
          <a:lstStyle/>
          <a:p>
            <a:pPr algn="ctr">
              <a:lnSpc>
                <a:spcPts val="3985"/>
              </a:lnSpc>
            </a:pPr>
            <a:r>
              <a:rPr lang="en-US" b="true" sz="2748">
                <a:solidFill>
                  <a:srgbClr val="000000"/>
                </a:solidFill>
                <a:latin typeface="TT Fors Bold"/>
                <a:ea typeface="TT Fors Bold"/>
                <a:cs typeface="TT Fors Bold"/>
                <a:sym typeface="TT Fors Bold"/>
              </a:rPr>
              <a:t>THERE ARE TWO MODES:</a:t>
            </a:r>
          </a:p>
          <a:p>
            <a:pPr algn="l">
              <a:lnSpc>
                <a:spcPts val="3985"/>
              </a:lnSpc>
            </a:pPr>
            <a:r>
              <a:rPr lang="en-US" sz="2748" b="true">
                <a:solidFill>
                  <a:srgbClr val="000000"/>
                </a:solidFill>
                <a:latin typeface="TT Fors Bold"/>
                <a:ea typeface="TT Fors Bold"/>
                <a:cs typeface="TT Fors Bold"/>
                <a:sym typeface="TT Fors Bold"/>
              </a:rPr>
              <a:t>DEFAULT MODE </a:t>
            </a:r>
          </a:p>
          <a:p>
            <a:pPr algn="l">
              <a:lnSpc>
                <a:spcPts val="3985"/>
              </a:lnSpc>
              <a:spcBef>
                <a:spcPct val="0"/>
              </a:spcBef>
            </a:pPr>
            <a:r>
              <a:rPr lang="en-US" b="true" sz="2748">
                <a:solidFill>
                  <a:srgbClr val="000000"/>
                </a:solidFill>
                <a:latin typeface="TT Fors Bold"/>
                <a:ea typeface="TT Fors Bold"/>
                <a:cs typeface="TT Fors Bold"/>
                <a:sym typeface="TT Fors Bold"/>
              </a:rPr>
              <a:t>DARK MODE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459432" y="1488575"/>
            <a:ext cx="13001612" cy="7309849"/>
          </a:xfrm>
          <a:custGeom>
            <a:avLst/>
            <a:gdLst/>
            <a:ahLst/>
            <a:cxnLst/>
            <a:rect r="r" b="b" t="t" l="l"/>
            <a:pathLst>
              <a:path h="7309849" w="13001612">
                <a:moveTo>
                  <a:pt x="0" y="0"/>
                </a:moveTo>
                <a:lnTo>
                  <a:pt x="13001611" y="0"/>
                </a:lnTo>
                <a:lnTo>
                  <a:pt x="13001611" y="7309850"/>
                </a:lnTo>
                <a:lnTo>
                  <a:pt x="0" y="7309850"/>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935727" y="1391207"/>
            <a:ext cx="14878156" cy="8287066"/>
          </a:xfrm>
          <a:custGeom>
            <a:avLst/>
            <a:gdLst/>
            <a:ahLst/>
            <a:cxnLst/>
            <a:rect r="r" b="b" t="t" l="l"/>
            <a:pathLst>
              <a:path h="8287066" w="14878156">
                <a:moveTo>
                  <a:pt x="0" y="0"/>
                </a:moveTo>
                <a:lnTo>
                  <a:pt x="14878157" y="0"/>
                </a:lnTo>
                <a:lnTo>
                  <a:pt x="14878157" y="8287066"/>
                </a:lnTo>
                <a:lnTo>
                  <a:pt x="0" y="8287066"/>
                </a:lnTo>
                <a:lnTo>
                  <a:pt x="0" y="0"/>
                </a:lnTo>
                <a:close/>
              </a:path>
            </a:pathLst>
          </a:custGeom>
          <a:blipFill>
            <a:blip r:embed="rId2"/>
            <a:stretch>
              <a:fillRect l="0" t="-939"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81396" y="1224998"/>
            <a:ext cx="15525207" cy="8728681"/>
          </a:xfrm>
          <a:custGeom>
            <a:avLst/>
            <a:gdLst/>
            <a:ahLst/>
            <a:cxnLst/>
            <a:rect r="r" b="b" t="t" l="l"/>
            <a:pathLst>
              <a:path h="8728681" w="15525207">
                <a:moveTo>
                  <a:pt x="0" y="0"/>
                </a:moveTo>
                <a:lnTo>
                  <a:pt x="15525208" y="0"/>
                </a:lnTo>
                <a:lnTo>
                  <a:pt x="15525208" y="8728681"/>
                </a:lnTo>
                <a:lnTo>
                  <a:pt x="0" y="8728681"/>
                </a:lnTo>
                <a:lnTo>
                  <a:pt x="0" y="0"/>
                </a:lnTo>
                <a:close/>
              </a:path>
            </a:pathLst>
          </a:custGeom>
          <a:blipFill>
            <a:blip r:embed="rId2"/>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38052" y="1902809"/>
            <a:ext cx="13082791" cy="7355491"/>
          </a:xfrm>
          <a:custGeom>
            <a:avLst/>
            <a:gdLst/>
            <a:ahLst/>
            <a:cxnLst/>
            <a:rect r="r" b="b" t="t" l="l"/>
            <a:pathLst>
              <a:path h="7355491" w="13082791">
                <a:moveTo>
                  <a:pt x="0" y="0"/>
                </a:moveTo>
                <a:lnTo>
                  <a:pt x="13082791" y="0"/>
                </a:lnTo>
                <a:lnTo>
                  <a:pt x="13082791" y="7355491"/>
                </a:lnTo>
                <a:lnTo>
                  <a:pt x="0" y="7355491"/>
                </a:lnTo>
                <a:lnTo>
                  <a:pt x="0" y="0"/>
                </a:lnTo>
                <a:close/>
              </a:path>
            </a:pathLst>
          </a:custGeom>
          <a:blipFill>
            <a:blip r:embed="rId2"/>
            <a:stretch>
              <a:fillRect l="0" t="0" r="0" b="0"/>
            </a:stretch>
          </a:blipFill>
        </p:spPr>
      </p:sp>
      <p:sp>
        <p:nvSpPr>
          <p:cNvPr name="TextBox 3" id="3"/>
          <p:cNvSpPr txBox="true"/>
          <p:nvPr/>
        </p:nvSpPr>
        <p:spPr>
          <a:xfrm rot="0">
            <a:off x="3304133" y="536391"/>
            <a:ext cx="11177439" cy="927467"/>
          </a:xfrm>
          <a:prstGeom prst="rect">
            <a:avLst/>
          </a:prstGeom>
        </p:spPr>
        <p:txBody>
          <a:bodyPr anchor="t" rtlCol="false" tIns="0" lIns="0" bIns="0" rIns="0">
            <a:spAutoFit/>
          </a:bodyPr>
          <a:lstStyle/>
          <a:p>
            <a:pPr algn="l">
              <a:lnSpc>
                <a:spcPts val="3753"/>
              </a:lnSpc>
              <a:spcBef>
                <a:spcPct val="0"/>
              </a:spcBef>
            </a:pPr>
            <a:r>
              <a:rPr lang="en-US" b="true" sz="2588">
                <a:solidFill>
                  <a:srgbClr val="000000"/>
                </a:solidFill>
                <a:latin typeface="TT Fors Bold"/>
                <a:ea typeface="TT Fors Bold"/>
                <a:cs typeface="TT Fors Bold"/>
                <a:sym typeface="TT Fors Bold"/>
              </a:rPr>
              <a:t>H</a:t>
            </a:r>
            <a:r>
              <a:rPr lang="en-US" b="true" sz="2588">
                <a:solidFill>
                  <a:srgbClr val="000000"/>
                </a:solidFill>
                <a:latin typeface="TT Fors Bold"/>
                <a:ea typeface="TT Fors Bold"/>
                <a:cs typeface="TT Fors Bold"/>
                <a:sym typeface="TT Fors Bold"/>
              </a:rPr>
              <a:t>ERE TASK ARE REGISTERED.</a:t>
            </a:r>
          </a:p>
          <a:p>
            <a:pPr algn="l">
              <a:lnSpc>
                <a:spcPts val="3753"/>
              </a:lnSpc>
              <a:spcBef>
                <a:spcPct val="0"/>
              </a:spcBef>
            </a:pPr>
            <a:r>
              <a:rPr lang="en-US" b="true" sz="2588">
                <a:solidFill>
                  <a:srgbClr val="000000"/>
                </a:solidFill>
                <a:latin typeface="TT Fors Bold"/>
                <a:ea typeface="TT Fors Bold"/>
                <a:cs typeface="TT Fors Bold"/>
                <a:sym typeface="TT Fors Bold"/>
              </a:rPr>
              <a:t>AS YOU CAN SEE SOME ARE PENDING AND SOME ARE COMPLETED</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182505" y="1544673"/>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CHALLENGES AND LEARNING</a:t>
            </a:r>
          </a:p>
        </p:txBody>
      </p:sp>
      <p:sp>
        <p:nvSpPr>
          <p:cNvPr name="TextBox 30" id="30"/>
          <p:cNvSpPr txBox="true"/>
          <p:nvPr/>
        </p:nvSpPr>
        <p:spPr>
          <a:xfrm rot="0">
            <a:off x="3972772" y="2829319"/>
            <a:ext cx="13132723" cy="6145530"/>
          </a:xfrm>
          <a:prstGeom prst="rect">
            <a:avLst/>
          </a:prstGeom>
        </p:spPr>
        <p:txBody>
          <a:bodyPr anchor="t" rtlCol="false" tIns="0" lIns="0" bIns="0" rIns="0">
            <a:spAutoFit/>
          </a:bodyPr>
          <a:lstStyle/>
          <a:p>
            <a:pPr algn="l">
              <a:lnSpc>
                <a:spcPts val="4050"/>
              </a:lnSpc>
            </a:pPr>
            <a:r>
              <a:rPr lang="en-US" sz="2700">
                <a:solidFill>
                  <a:srgbClr val="0F1C29"/>
                </a:solidFill>
                <a:latin typeface="Roca One"/>
                <a:ea typeface="Roca One"/>
                <a:cs typeface="Roca One"/>
                <a:sym typeface="Roca One"/>
              </a:rPr>
              <a:t>Challenges</a:t>
            </a:r>
          </a:p>
          <a:p>
            <a:pPr algn="l" marL="582932" indent="-291466" lvl="1">
              <a:lnSpc>
                <a:spcPts val="4050"/>
              </a:lnSpc>
              <a:buFont typeface="Arial"/>
              <a:buChar char="•"/>
            </a:pPr>
            <a:r>
              <a:rPr lang="en-US" sz="2700">
                <a:solidFill>
                  <a:srgbClr val="0F1C29"/>
                </a:solidFill>
                <a:latin typeface="Roca One"/>
                <a:ea typeface="Roca One"/>
                <a:cs typeface="Roca One"/>
                <a:sym typeface="Roca One"/>
              </a:rPr>
              <a:t>Docker installation issues</a:t>
            </a:r>
          </a:p>
          <a:p>
            <a:pPr algn="l" marL="582932" indent="-291466" lvl="1">
              <a:lnSpc>
                <a:spcPts val="4050"/>
              </a:lnSpc>
              <a:buFont typeface="Arial"/>
              <a:buChar char="•"/>
            </a:pPr>
            <a:r>
              <a:rPr lang="en-US" sz="2700">
                <a:solidFill>
                  <a:srgbClr val="0F1C29"/>
                </a:solidFill>
                <a:latin typeface="Roca One"/>
                <a:ea typeface="Roca One"/>
                <a:cs typeface="Roca One"/>
                <a:sym typeface="Roca One"/>
              </a:rPr>
              <a:t>Port conflicts</a:t>
            </a:r>
          </a:p>
          <a:p>
            <a:pPr algn="l" marL="582932" indent="-291466" lvl="1">
              <a:lnSpc>
                <a:spcPts val="4050"/>
              </a:lnSpc>
              <a:buFont typeface="Arial"/>
              <a:buChar char="•"/>
            </a:pPr>
            <a:r>
              <a:rPr lang="en-US" sz="2700">
                <a:solidFill>
                  <a:srgbClr val="0F1C29"/>
                </a:solidFill>
                <a:latin typeface="Roca One"/>
                <a:ea typeface="Roca One"/>
                <a:cs typeface="Roca One"/>
                <a:sym typeface="Roca One"/>
              </a:rPr>
              <a:t>Container build errors</a:t>
            </a:r>
          </a:p>
          <a:p>
            <a:pPr algn="l" marL="582932" indent="-291466" lvl="1">
              <a:lnSpc>
                <a:spcPts val="4050"/>
              </a:lnSpc>
              <a:buFont typeface="Arial"/>
              <a:buChar char="•"/>
            </a:pPr>
            <a:r>
              <a:rPr lang="en-US" sz="2700">
                <a:solidFill>
                  <a:srgbClr val="0F1C29"/>
                </a:solidFill>
                <a:latin typeface="Roca One"/>
                <a:ea typeface="Roca One"/>
                <a:cs typeface="Roca One"/>
                <a:sym typeface="Roca One"/>
              </a:rPr>
              <a:t>Debugging JavaScript</a:t>
            </a:r>
          </a:p>
          <a:p>
            <a:pPr algn="l" marL="582932" indent="-291466" lvl="1">
              <a:lnSpc>
                <a:spcPts val="4050"/>
              </a:lnSpc>
              <a:buFont typeface="Arial"/>
              <a:buChar char="•"/>
            </a:pPr>
            <a:r>
              <a:rPr lang="en-US" sz="2700">
                <a:solidFill>
                  <a:srgbClr val="0F1C29"/>
                </a:solidFill>
                <a:latin typeface="Roca One"/>
                <a:ea typeface="Roca One"/>
                <a:cs typeface="Roca One"/>
                <a:sym typeface="Roca One"/>
              </a:rPr>
              <a:t>GitHub push issues</a:t>
            </a:r>
          </a:p>
          <a:p>
            <a:pPr algn="l">
              <a:lnSpc>
                <a:spcPts val="4050"/>
              </a:lnSpc>
            </a:pPr>
            <a:r>
              <a:rPr lang="en-US" sz="2700">
                <a:solidFill>
                  <a:srgbClr val="0F1C29"/>
                </a:solidFill>
                <a:latin typeface="Roca One"/>
                <a:ea typeface="Roca One"/>
                <a:cs typeface="Roca One"/>
                <a:sym typeface="Roca One"/>
              </a:rPr>
              <a:t>Solutions</a:t>
            </a:r>
          </a:p>
          <a:p>
            <a:pPr algn="l" marL="582932" indent="-291466" lvl="1">
              <a:lnSpc>
                <a:spcPts val="4050"/>
              </a:lnSpc>
              <a:buFont typeface="Arial"/>
              <a:buChar char="•"/>
            </a:pPr>
            <a:r>
              <a:rPr lang="en-US" sz="2700">
                <a:solidFill>
                  <a:srgbClr val="0F1C29"/>
                </a:solidFill>
                <a:latin typeface="Roca One"/>
                <a:ea typeface="Roca One"/>
                <a:cs typeface="Roca One"/>
                <a:sym typeface="Roca One"/>
              </a:rPr>
              <a:t>Correct Docker configuration</a:t>
            </a:r>
          </a:p>
          <a:p>
            <a:pPr algn="l" marL="582932" indent="-291466" lvl="1">
              <a:lnSpc>
                <a:spcPts val="4050"/>
              </a:lnSpc>
              <a:buFont typeface="Arial"/>
              <a:buChar char="•"/>
            </a:pPr>
            <a:r>
              <a:rPr lang="en-US" sz="2700">
                <a:solidFill>
                  <a:srgbClr val="0F1C29"/>
                </a:solidFill>
                <a:latin typeface="Roca One"/>
                <a:ea typeface="Roca One"/>
                <a:cs typeface="Roca One"/>
                <a:sym typeface="Roca One"/>
              </a:rPr>
              <a:t>Changed occupied ports</a:t>
            </a:r>
          </a:p>
          <a:p>
            <a:pPr algn="l" marL="582932" indent="-291466" lvl="1">
              <a:lnSpc>
                <a:spcPts val="4050"/>
              </a:lnSpc>
              <a:buFont typeface="Arial"/>
              <a:buChar char="•"/>
            </a:pPr>
            <a:r>
              <a:rPr lang="en-US" sz="2700">
                <a:solidFill>
                  <a:srgbClr val="0F1C29"/>
                </a:solidFill>
                <a:latin typeface="Roca One"/>
                <a:ea typeface="Roca One"/>
                <a:cs typeface="Roca One"/>
                <a:sym typeface="Roca One"/>
              </a:rPr>
              <a:t>Verified Dockerfile</a:t>
            </a:r>
          </a:p>
          <a:p>
            <a:pPr algn="l" marL="582932" indent="-291466" lvl="1">
              <a:lnSpc>
                <a:spcPts val="4050"/>
              </a:lnSpc>
              <a:buFont typeface="Arial"/>
              <a:buChar char="•"/>
            </a:pPr>
            <a:r>
              <a:rPr lang="en-US" sz="2700">
                <a:solidFill>
                  <a:srgbClr val="0F1C29"/>
                </a:solidFill>
                <a:latin typeface="Roca One"/>
                <a:ea typeface="Roca One"/>
                <a:cs typeface="Roca One"/>
                <a:sym typeface="Roca One"/>
              </a:rPr>
              <a:t>Fixed JavaScript errors</a:t>
            </a:r>
          </a:p>
          <a:p>
            <a:pPr algn="l" marL="582932" indent="-291466" lvl="1">
              <a:lnSpc>
                <a:spcPts val="4050"/>
              </a:lnSpc>
              <a:buFont typeface="Arial"/>
              <a:buChar char="•"/>
            </a:pPr>
            <a:r>
              <a:rPr lang="en-US" sz="2700">
                <a:solidFill>
                  <a:srgbClr val="0F1C29"/>
                </a:solidFill>
                <a:latin typeface="Roca One"/>
                <a:ea typeface="Roca One"/>
                <a:cs typeface="Roca One"/>
                <a:sym typeface="Roca One"/>
              </a:rPr>
              <a:t>Managed Git commits properly</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182505" y="1544673"/>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  LEARNING OUTCOMES </a:t>
            </a:r>
          </a:p>
        </p:txBody>
      </p:sp>
      <p:sp>
        <p:nvSpPr>
          <p:cNvPr name="TextBox 30" id="30"/>
          <p:cNvSpPr txBox="true"/>
          <p:nvPr/>
        </p:nvSpPr>
        <p:spPr>
          <a:xfrm rot="0">
            <a:off x="3216669" y="3584075"/>
            <a:ext cx="4606871" cy="4214370"/>
          </a:xfrm>
          <a:prstGeom prst="rect">
            <a:avLst/>
          </a:prstGeom>
        </p:spPr>
        <p:txBody>
          <a:bodyPr anchor="t" rtlCol="false" tIns="0" lIns="0" bIns="0" rIns="0">
            <a:spAutoFit/>
          </a:bodyPr>
          <a:lstStyle/>
          <a:p>
            <a:pPr algn="l">
              <a:lnSpc>
                <a:spcPts val="4177"/>
              </a:lnSpc>
            </a:pPr>
          </a:p>
          <a:p>
            <a:pPr algn="l">
              <a:lnSpc>
                <a:spcPts val="4177"/>
              </a:lnSpc>
            </a:pPr>
            <a:r>
              <a:rPr lang="en-US" sz="2784">
                <a:solidFill>
                  <a:srgbClr val="0F1C29"/>
                </a:solidFill>
                <a:latin typeface="Roca One"/>
                <a:ea typeface="Roca One"/>
                <a:cs typeface="Roca One"/>
                <a:sym typeface="Roca One"/>
              </a:rPr>
              <a:t>✔ </a:t>
            </a:r>
            <a:r>
              <a:rPr lang="en-US" sz="2784">
                <a:solidFill>
                  <a:srgbClr val="0F1C29"/>
                </a:solidFill>
                <a:latin typeface="Roca One"/>
                <a:ea typeface="Roca One"/>
                <a:cs typeface="Roca One"/>
                <a:sym typeface="Roca One"/>
              </a:rPr>
              <a:t>Docker Basics</a:t>
            </a:r>
          </a:p>
          <a:p>
            <a:pPr algn="l">
              <a:lnSpc>
                <a:spcPts val="4177"/>
              </a:lnSpc>
            </a:pPr>
            <a:r>
              <a:rPr lang="en-US" sz="2784">
                <a:solidFill>
                  <a:srgbClr val="0F1C29"/>
                </a:solidFill>
                <a:latin typeface="Roca One"/>
                <a:ea typeface="Roca One"/>
                <a:cs typeface="Roca One"/>
                <a:sym typeface="Roca One"/>
              </a:rPr>
              <a:t>✔</a:t>
            </a:r>
            <a:r>
              <a:rPr lang="en-US" sz="2784">
                <a:solidFill>
                  <a:srgbClr val="0F1C29"/>
                </a:solidFill>
                <a:latin typeface="Roca One"/>
                <a:ea typeface="Roca One"/>
                <a:cs typeface="Roca One"/>
                <a:sym typeface="Roca One"/>
              </a:rPr>
              <a:t> Docker Images</a:t>
            </a:r>
          </a:p>
          <a:p>
            <a:pPr algn="l">
              <a:lnSpc>
                <a:spcPts val="4177"/>
              </a:lnSpc>
            </a:pPr>
            <a:r>
              <a:rPr lang="en-US" sz="2784">
                <a:solidFill>
                  <a:srgbClr val="0F1C29"/>
                </a:solidFill>
                <a:latin typeface="Roca One"/>
                <a:ea typeface="Roca One"/>
                <a:cs typeface="Roca One"/>
                <a:sym typeface="Roca One"/>
              </a:rPr>
              <a:t>✔</a:t>
            </a:r>
            <a:r>
              <a:rPr lang="en-US" sz="2784">
                <a:solidFill>
                  <a:srgbClr val="0F1C29"/>
                </a:solidFill>
                <a:latin typeface="Roca One"/>
                <a:ea typeface="Roca One"/>
                <a:cs typeface="Roca One"/>
                <a:sym typeface="Roca One"/>
              </a:rPr>
              <a:t> Docker Containers</a:t>
            </a:r>
          </a:p>
          <a:p>
            <a:pPr algn="l">
              <a:lnSpc>
                <a:spcPts val="4177"/>
              </a:lnSpc>
            </a:pPr>
            <a:r>
              <a:rPr lang="en-US" sz="2784">
                <a:solidFill>
                  <a:srgbClr val="0F1C29"/>
                </a:solidFill>
                <a:latin typeface="Roca One"/>
                <a:ea typeface="Roca One"/>
                <a:cs typeface="Roca One"/>
                <a:sym typeface="Roca One"/>
              </a:rPr>
              <a:t>✔</a:t>
            </a:r>
            <a:r>
              <a:rPr lang="en-US" sz="2784">
                <a:solidFill>
                  <a:srgbClr val="0F1C29"/>
                </a:solidFill>
                <a:latin typeface="Roca One"/>
                <a:ea typeface="Roca One"/>
                <a:cs typeface="Roca One"/>
                <a:sym typeface="Roca One"/>
              </a:rPr>
              <a:t> Dockerfile</a:t>
            </a:r>
          </a:p>
          <a:p>
            <a:pPr algn="l">
              <a:lnSpc>
                <a:spcPts val="4177"/>
              </a:lnSpc>
            </a:pPr>
            <a:r>
              <a:rPr lang="en-US" sz="2784">
                <a:solidFill>
                  <a:srgbClr val="0F1C29"/>
                </a:solidFill>
                <a:latin typeface="Roca One"/>
                <a:ea typeface="Roca One"/>
                <a:cs typeface="Roca One"/>
                <a:sym typeface="Roca One"/>
              </a:rPr>
              <a:t>✔ Nod</a:t>
            </a:r>
            <a:r>
              <a:rPr lang="en-US" sz="2784">
                <a:solidFill>
                  <a:srgbClr val="0F1C29"/>
                </a:solidFill>
                <a:latin typeface="Roca One"/>
                <a:ea typeface="Roca One"/>
                <a:cs typeface="Roca One"/>
                <a:sym typeface="Roca One"/>
              </a:rPr>
              <a:t>e.js with Express</a:t>
            </a:r>
          </a:p>
          <a:p>
            <a:pPr algn="l">
              <a:lnSpc>
                <a:spcPts val="4177"/>
              </a:lnSpc>
            </a:pPr>
            <a:r>
              <a:rPr lang="en-US" sz="2784">
                <a:solidFill>
                  <a:srgbClr val="0F1C29"/>
                </a:solidFill>
                <a:latin typeface="Roca One"/>
                <a:ea typeface="Roca One"/>
                <a:cs typeface="Roca One"/>
                <a:sym typeface="Roca One"/>
              </a:rPr>
              <a:t>✔</a:t>
            </a:r>
            <a:r>
              <a:rPr lang="en-US" sz="2784">
                <a:solidFill>
                  <a:srgbClr val="0F1C29"/>
                </a:solidFill>
                <a:latin typeface="Roca One"/>
                <a:ea typeface="Roca One"/>
                <a:cs typeface="Roca One"/>
                <a:sym typeface="Roca One"/>
              </a:rPr>
              <a:t> Git &amp; GitHub</a:t>
            </a:r>
          </a:p>
          <a:p>
            <a:pPr algn="l">
              <a:lnSpc>
                <a:spcPts val="4177"/>
              </a:lnSpc>
            </a:pPr>
            <a:r>
              <a:rPr lang="en-US" sz="2784">
                <a:solidFill>
                  <a:srgbClr val="0F1C29"/>
                </a:solidFill>
                <a:latin typeface="Roca One"/>
                <a:ea typeface="Roca One"/>
                <a:cs typeface="Roca One"/>
                <a:sym typeface="Roca One"/>
              </a:rPr>
              <a:t>✔ Cloud Native Deployment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2738286" y="3973927"/>
            <a:ext cx="8543158" cy="4543425"/>
          </a:xfrm>
          <a:prstGeom prst="rect">
            <a:avLst/>
          </a:prstGeom>
        </p:spPr>
        <p:txBody>
          <a:bodyPr anchor="t" rtlCol="false" tIns="0" lIns="0" bIns="0" rIns="0">
            <a:spAutoFit/>
          </a:bodyPr>
          <a:lstStyle/>
          <a:p>
            <a:pPr algn="l" marL="647700" indent="-323850" lvl="1">
              <a:lnSpc>
                <a:spcPts val="4499"/>
              </a:lnSpc>
              <a:buFont typeface="Arial"/>
              <a:buChar char="•"/>
            </a:pPr>
            <a:r>
              <a:rPr lang="en-US" sz="2999">
                <a:solidFill>
                  <a:srgbClr val="0F1C29"/>
                </a:solidFill>
                <a:latin typeface="Roca One"/>
                <a:ea typeface="Roca One"/>
                <a:cs typeface="Roca One"/>
                <a:sym typeface="Roca One"/>
              </a:rPr>
              <a:t>Database Integration (MongoDB)</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User Authentication</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Due Date Reminders</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Task Categories</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Cloud Deployment (AWS/Azure)</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Kubernetes</a:t>
            </a:r>
          </a:p>
          <a:p>
            <a:pPr algn="l" marL="647700" indent="-323850" lvl="1">
              <a:lnSpc>
                <a:spcPts val="4499"/>
              </a:lnSpc>
              <a:buFont typeface="Arial"/>
              <a:buChar char="•"/>
            </a:pPr>
            <a:r>
              <a:rPr lang="en-US" sz="2999">
                <a:solidFill>
                  <a:srgbClr val="0F1C29"/>
                </a:solidFill>
                <a:latin typeface="Roca One"/>
                <a:ea typeface="Roca One"/>
                <a:cs typeface="Roca One"/>
                <a:sym typeface="Roca One"/>
              </a:rPr>
              <a:t>CI/CD Pipeline</a:t>
            </a:r>
          </a:p>
          <a:p>
            <a:pPr algn="l">
              <a:lnSpc>
                <a:spcPts val="4499"/>
              </a:lnSpc>
            </a:pPr>
          </a:p>
        </p:txBody>
      </p:sp>
      <p:sp>
        <p:nvSpPr>
          <p:cNvPr name="Freeform 30" id="30"/>
          <p:cNvSpPr/>
          <p:nvPr/>
        </p:nvSpPr>
        <p:spPr>
          <a:xfrm flipH="false" flipV="false" rot="0">
            <a:off x="11569580" y="3659601"/>
            <a:ext cx="3980134" cy="4114800"/>
          </a:xfrm>
          <a:custGeom>
            <a:avLst/>
            <a:gdLst/>
            <a:ahLst/>
            <a:cxnLst/>
            <a:rect r="r" b="b" t="t" l="l"/>
            <a:pathLst>
              <a:path h="4114800" w="3980134">
                <a:moveTo>
                  <a:pt x="0" y="0"/>
                </a:moveTo>
                <a:lnTo>
                  <a:pt x="3980134" y="0"/>
                </a:lnTo>
                <a:lnTo>
                  <a:pt x="3980134" y="4114800"/>
                </a:lnTo>
                <a:lnTo>
                  <a:pt x="0" y="41148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31" id="31"/>
          <p:cNvSpPr txBox="true"/>
          <p:nvPr/>
        </p:nvSpPr>
        <p:spPr>
          <a:xfrm rot="0">
            <a:off x="1182505" y="1927941"/>
            <a:ext cx="15922990" cy="1323975"/>
          </a:xfrm>
          <a:prstGeom prst="rect">
            <a:avLst/>
          </a:prstGeom>
        </p:spPr>
        <p:txBody>
          <a:bodyPr anchor="t" rtlCol="false" tIns="0" lIns="0" bIns="0" rIns="0">
            <a:spAutoFit/>
          </a:bodyPr>
          <a:lstStyle/>
          <a:p>
            <a:pPr algn="ctr" marL="0" indent="0" lvl="0">
              <a:lnSpc>
                <a:spcPts val="10875"/>
              </a:lnSpc>
            </a:pPr>
            <a:r>
              <a:rPr lang="en-US" b="true" sz="7500">
                <a:solidFill>
                  <a:srgbClr val="3A73AE"/>
                </a:solidFill>
                <a:latin typeface="Roca One Bold"/>
                <a:ea typeface="Roca One Bold"/>
                <a:cs typeface="Roca One Bold"/>
                <a:sym typeface="Roca One Bold"/>
              </a:rPr>
              <a:t>FUTURE SCOPE</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20312" t="0" r="-20312" b="0"/>
            </a:stretch>
          </a:blipFill>
        </p:spPr>
      </p:sp>
      <p:grpSp>
        <p:nvGrpSpPr>
          <p:cNvPr name="Group 3" id="3"/>
          <p:cNvGrpSpPr/>
          <p:nvPr/>
        </p:nvGrpSpPr>
        <p:grpSpPr>
          <a:xfrm rot="0">
            <a:off x="-1362542" y="4123218"/>
            <a:ext cx="7441042" cy="6590268"/>
            <a:chOff x="0" y="0"/>
            <a:chExt cx="9921390" cy="8787024"/>
          </a:xfrm>
        </p:grpSpPr>
        <p:sp>
          <p:nvSpPr>
            <p:cNvPr name="Freeform 4" id="4"/>
            <p:cNvSpPr/>
            <p:nvPr/>
          </p:nvSpPr>
          <p:spPr>
            <a:xfrm flipH="true" flipV="true" rot="-10800000">
              <a:off x="0" y="559414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5" id="5"/>
            <p:cNvGrpSpPr/>
            <p:nvPr/>
          </p:nvGrpSpPr>
          <p:grpSpPr>
            <a:xfrm rot="-5400000">
              <a:off x="755161" y="1370491"/>
              <a:ext cx="3009241" cy="1257089"/>
              <a:chOff x="0" y="0"/>
              <a:chExt cx="406400" cy="169771"/>
            </a:xfrm>
          </p:grpSpPr>
          <p:sp>
            <p:nvSpPr>
              <p:cNvPr name="Freeform 6" id="6"/>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7" id="7"/>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8" id="8"/>
            <p:cNvGrpSpPr/>
            <p:nvPr/>
          </p:nvGrpSpPr>
          <p:grpSpPr>
            <a:xfrm rot="-5400000">
              <a:off x="161273" y="3889360"/>
              <a:ext cx="4197018" cy="1257089"/>
              <a:chOff x="0" y="0"/>
              <a:chExt cx="566810" cy="169771"/>
            </a:xfrm>
          </p:grpSpPr>
          <p:sp>
            <p:nvSpPr>
              <p:cNvPr name="Freeform 9" id="9"/>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10" id="10"/>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11" id="11"/>
            <p:cNvGrpSpPr/>
            <p:nvPr/>
          </p:nvGrpSpPr>
          <p:grpSpPr>
            <a:xfrm rot="-5400000">
              <a:off x="867105" y="581976"/>
              <a:ext cx="1999035" cy="835083"/>
              <a:chOff x="0" y="0"/>
              <a:chExt cx="406400" cy="169771"/>
            </a:xfrm>
          </p:grpSpPr>
          <p:sp>
            <p:nvSpPr>
              <p:cNvPr name="Freeform 12" id="12"/>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13" id="13"/>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14" id="14"/>
            <p:cNvSpPr/>
            <p:nvPr/>
          </p:nvSpPr>
          <p:spPr>
            <a:xfrm flipH="false" flipV="false" rot="0">
              <a:off x="962259" y="999518"/>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grpSp>
        <p:nvGrpSpPr>
          <p:cNvPr name="Group 15" id="15"/>
          <p:cNvGrpSpPr/>
          <p:nvPr/>
        </p:nvGrpSpPr>
        <p:grpSpPr>
          <a:xfrm rot="0">
            <a:off x="12209500" y="-426486"/>
            <a:ext cx="7441042" cy="6590268"/>
            <a:chOff x="0" y="0"/>
            <a:chExt cx="9921390" cy="8787024"/>
          </a:xfrm>
        </p:grpSpPr>
        <p:sp>
          <p:nvSpPr>
            <p:cNvPr name="Freeform 16" id="16"/>
            <p:cNvSpPr/>
            <p:nvPr/>
          </p:nvSpPr>
          <p:spPr>
            <a:xfrm flipH="true" flipV="true" rot="0">
              <a:off x="0" y="0"/>
              <a:ext cx="9921390" cy="3192884"/>
            </a:xfrm>
            <a:custGeom>
              <a:avLst/>
              <a:gdLst/>
              <a:ahLst/>
              <a:cxnLst/>
              <a:rect r="r" b="b" t="t" l="l"/>
              <a:pathLst>
                <a:path h="3192884" w="9921390">
                  <a:moveTo>
                    <a:pt x="9921390" y="3192884"/>
                  </a:moveTo>
                  <a:lnTo>
                    <a:pt x="0" y="3192884"/>
                  </a:lnTo>
                  <a:lnTo>
                    <a:pt x="0" y="0"/>
                  </a:lnTo>
                  <a:lnTo>
                    <a:pt x="9921390" y="0"/>
                  </a:lnTo>
                  <a:lnTo>
                    <a:pt x="9921390" y="3192884"/>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7" id="17"/>
            <p:cNvGrpSpPr/>
            <p:nvPr/>
          </p:nvGrpSpPr>
          <p:grpSpPr>
            <a:xfrm rot="5400000">
              <a:off x="6156988" y="6159444"/>
              <a:ext cx="3009241" cy="1257089"/>
              <a:chOff x="0" y="0"/>
              <a:chExt cx="406400" cy="169771"/>
            </a:xfrm>
          </p:grpSpPr>
          <p:sp>
            <p:nvSpPr>
              <p:cNvPr name="Freeform 18" id="18"/>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93C4F6"/>
              </a:solidFill>
            </p:spPr>
          </p:sp>
          <p:sp>
            <p:nvSpPr>
              <p:cNvPr name="TextBox 19" id="19"/>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grpSp>
          <p:nvGrpSpPr>
            <p:cNvPr name="Group 20" id="20"/>
            <p:cNvGrpSpPr/>
            <p:nvPr/>
          </p:nvGrpSpPr>
          <p:grpSpPr>
            <a:xfrm rot="5400000">
              <a:off x="5563099" y="3640576"/>
              <a:ext cx="4197018" cy="1257089"/>
              <a:chOff x="0" y="0"/>
              <a:chExt cx="566810" cy="169771"/>
            </a:xfrm>
          </p:grpSpPr>
          <p:sp>
            <p:nvSpPr>
              <p:cNvPr name="Freeform 21" id="21"/>
              <p:cNvSpPr/>
              <p:nvPr/>
            </p:nvSpPr>
            <p:spPr>
              <a:xfrm flipH="false" flipV="false" rot="0">
                <a:off x="0" y="0"/>
                <a:ext cx="566810" cy="169771"/>
              </a:xfrm>
              <a:custGeom>
                <a:avLst/>
                <a:gdLst/>
                <a:ahLst/>
                <a:cxnLst/>
                <a:rect r="r" b="b" t="t" l="l"/>
                <a:pathLst>
                  <a:path h="169771" w="566810">
                    <a:moveTo>
                      <a:pt x="363610" y="0"/>
                    </a:moveTo>
                    <a:lnTo>
                      <a:pt x="0" y="0"/>
                    </a:lnTo>
                    <a:lnTo>
                      <a:pt x="203200" y="169771"/>
                    </a:lnTo>
                    <a:lnTo>
                      <a:pt x="566810" y="169771"/>
                    </a:lnTo>
                    <a:lnTo>
                      <a:pt x="363610" y="0"/>
                    </a:lnTo>
                    <a:close/>
                  </a:path>
                </a:pathLst>
              </a:custGeom>
              <a:solidFill>
                <a:srgbClr val="C2E1FE"/>
              </a:solidFill>
            </p:spPr>
          </p:sp>
          <p:sp>
            <p:nvSpPr>
              <p:cNvPr name="TextBox 22" id="22"/>
              <p:cNvSpPr txBox="true"/>
              <p:nvPr/>
            </p:nvSpPr>
            <p:spPr>
              <a:xfrm>
                <a:off x="101600" y="-57150"/>
                <a:ext cx="363610" cy="226921"/>
              </a:xfrm>
              <a:prstGeom prst="rect">
                <a:avLst/>
              </a:prstGeom>
            </p:spPr>
            <p:txBody>
              <a:bodyPr anchor="ctr" rtlCol="false" tIns="50800" lIns="50800" bIns="50800" rIns="50800"/>
              <a:lstStyle/>
              <a:p>
                <a:pPr algn="ctr">
                  <a:lnSpc>
                    <a:spcPts val="3753"/>
                  </a:lnSpc>
                </a:pPr>
              </a:p>
            </p:txBody>
          </p:sp>
        </p:grpSp>
        <p:grpSp>
          <p:nvGrpSpPr>
            <p:cNvPr name="Group 23" id="23"/>
            <p:cNvGrpSpPr/>
            <p:nvPr/>
          </p:nvGrpSpPr>
          <p:grpSpPr>
            <a:xfrm rot="5400000">
              <a:off x="7055249" y="7369965"/>
              <a:ext cx="1999035" cy="835083"/>
              <a:chOff x="0" y="0"/>
              <a:chExt cx="406400" cy="169771"/>
            </a:xfrm>
          </p:grpSpPr>
          <p:sp>
            <p:nvSpPr>
              <p:cNvPr name="Freeform 24" id="24"/>
              <p:cNvSpPr/>
              <p:nvPr/>
            </p:nvSpPr>
            <p:spPr>
              <a:xfrm flipH="false" flipV="false" rot="0">
                <a:off x="0" y="0"/>
                <a:ext cx="406400" cy="169771"/>
              </a:xfrm>
              <a:custGeom>
                <a:avLst/>
                <a:gdLst/>
                <a:ahLst/>
                <a:cxnLst/>
                <a:rect r="r" b="b" t="t" l="l"/>
                <a:pathLst>
                  <a:path h="169771" w="406400">
                    <a:moveTo>
                      <a:pt x="203200" y="0"/>
                    </a:moveTo>
                    <a:lnTo>
                      <a:pt x="0" y="0"/>
                    </a:lnTo>
                    <a:lnTo>
                      <a:pt x="203200" y="169771"/>
                    </a:lnTo>
                    <a:lnTo>
                      <a:pt x="406400" y="169771"/>
                    </a:lnTo>
                    <a:lnTo>
                      <a:pt x="203200" y="0"/>
                    </a:lnTo>
                    <a:close/>
                  </a:path>
                </a:pathLst>
              </a:custGeom>
              <a:solidFill>
                <a:srgbClr val="3A73AE"/>
              </a:solidFill>
            </p:spPr>
          </p:sp>
          <p:sp>
            <p:nvSpPr>
              <p:cNvPr name="TextBox 25" id="25"/>
              <p:cNvSpPr txBox="true"/>
              <p:nvPr/>
            </p:nvSpPr>
            <p:spPr>
              <a:xfrm>
                <a:off x="101600" y="-57150"/>
                <a:ext cx="203200" cy="226921"/>
              </a:xfrm>
              <a:prstGeom prst="rect">
                <a:avLst/>
              </a:prstGeom>
            </p:spPr>
            <p:txBody>
              <a:bodyPr anchor="ctr" rtlCol="false" tIns="50800" lIns="50800" bIns="50800" rIns="50800"/>
              <a:lstStyle/>
              <a:p>
                <a:pPr algn="ctr">
                  <a:lnSpc>
                    <a:spcPts val="3753"/>
                  </a:lnSpc>
                </a:pPr>
              </a:p>
            </p:txBody>
          </p:sp>
        </p:grpSp>
        <p:sp>
          <p:nvSpPr>
            <p:cNvPr name="Freeform 26" id="26"/>
            <p:cNvSpPr/>
            <p:nvPr/>
          </p:nvSpPr>
          <p:spPr>
            <a:xfrm flipH="false" flipV="false" rot="-10800000">
              <a:off x="7033064" y="4594623"/>
              <a:ext cx="1926067" cy="3192884"/>
            </a:xfrm>
            <a:custGeom>
              <a:avLst/>
              <a:gdLst/>
              <a:ahLst/>
              <a:cxnLst/>
              <a:rect r="r" b="b" t="t" l="l"/>
              <a:pathLst>
                <a:path h="3192884" w="1926067">
                  <a:moveTo>
                    <a:pt x="0" y="0"/>
                  </a:moveTo>
                  <a:lnTo>
                    <a:pt x="1926067" y="0"/>
                  </a:lnTo>
                  <a:lnTo>
                    <a:pt x="1926067" y="3192883"/>
                  </a:lnTo>
                  <a:lnTo>
                    <a:pt x="0" y="3192883"/>
                  </a:lnTo>
                  <a:lnTo>
                    <a:pt x="0" y="0"/>
                  </a:lnTo>
                  <a:close/>
                </a:path>
              </a:pathLst>
            </a:custGeom>
            <a:blipFill>
              <a:blip r:embed="rId5">
                <a:extLst>
                  <a:ext uri="{96DAC541-7B7A-43D3-8B79-37D633B846F1}">
                    <asvg:svgBlip xmlns:asvg="http://schemas.microsoft.com/office/drawing/2016/SVG/main" r:embed="rId6"/>
                  </a:ext>
                </a:extLst>
              </a:blip>
              <a:stretch>
                <a:fillRect l="0" t="0" r="-415111" b="0"/>
              </a:stretch>
            </a:blipFill>
            <a:ln cap="sq">
              <a:noFill/>
              <a:prstDash val="solid"/>
              <a:miter/>
            </a:ln>
          </p:spPr>
        </p:sp>
      </p:grpSp>
      <p:sp>
        <p:nvSpPr>
          <p:cNvPr name="Freeform 27" id="27"/>
          <p:cNvSpPr/>
          <p:nvPr/>
        </p:nvSpPr>
        <p:spPr>
          <a:xfrm flipH="false" flipV="false" rot="-1947032">
            <a:off x="-34300695" y="5351059"/>
            <a:ext cx="41083903" cy="7247578"/>
          </a:xfrm>
          <a:custGeom>
            <a:avLst/>
            <a:gdLst/>
            <a:ahLst/>
            <a:cxnLst/>
            <a:rect r="r" b="b" t="t" l="l"/>
            <a:pathLst>
              <a:path h="7247578" w="41083903">
                <a:moveTo>
                  <a:pt x="0" y="0"/>
                </a:moveTo>
                <a:lnTo>
                  <a:pt x="41083903" y="0"/>
                </a:lnTo>
                <a:lnTo>
                  <a:pt x="41083903" y="7247578"/>
                </a:lnTo>
                <a:lnTo>
                  <a:pt x="0" y="724757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8" id="28"/>
          <p:cNvSpPr/>
          <p:nvPr/>
        </p:nvSpPr>
        <p:spPr>
          <a:xfrm flipH="true" flipV="true" rot="-1947032">
            <a:off x="11504792" y="-2311637"/>
            <a:ext cx="41083903" cy="7247578"/>
          </a:xfrm>
          <a:custGeom>
            <a:avLst/>
            <a:gdLst/>
            <a:ahLst/>
            <a:cxnLst/>
            <a:rect r="r" b="b" t="t" l="l"/>
            <a:pathLst>
              <a:path h="7247578" w="41083903">
                <a:moveTo>
                  <a:pt x="41083903" y="7247578"/>
                </a:moveTo>
                <a:lnTo>
                  <a:pt x="0" y="7247578"/>
                </a:lnTo>
                <a:lnTo>
                  <a:pt x="0" y="0"/>
                </a:lnTo>
                <a:lnTo>
                  <a:pt x="41083903" y="0"/>
                </a:lnTo>
                <a:lnTo>
                  <a:pt x="41083903" y="7247578"/>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TextBox 29" id="29"/>
          <p:cNvSpPr txBox="true"/>
          <p:nvPr/>
        </p:nvSpPr>
        <p:spPr>
          <a:xfrm rot="0">
            <a:off x="1182505" y="3644544"/>
            <a:ext cx="15922990" cy="1971007"/>
          </a:xfrm>
          <a:prstGeom prst="rect">
            <a:avLst/>
          </a:prstGeom>
        </p:spPr>
        <p:txBody>
          <a:bodyPr anchor="t" rtlCol="false" tIns="0" lIns="0" bIns="0" rIns="0">
            <a:spAutoFit/>
          </a:bodyPr>
          <a:lstStyle/>
          <a:p>
            <a:pPr algn="ctr" marL="0" indent="0" lvl="0">
              <a:lnSpc>
                <a:spcPts val="16141"/>
              </a:lnSpc>
            </a:pPr>
            <a:r>
              <a:rPr lang="en-US" b="true" sz="11132">
                <a:solidFill>
                  <a:srgbClr val="3A73AE"/>
                </a:solidFill>
                <a:latin typeface="Roca One Bold"/>
                <a:ea typeface="Roca One Bold"/>
                <a:cs typeface="Roca One Bold"/>
                <a:sym typeface="Roca One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DAHPSSmkLu0</dc:identifier>
  <dcterms:modified xsi:type="dcterms:W3CDTF">2011-08-01T06:04:30Z</dcterms:modified>
  <cp:revision>1</cp:revision>
  <dc:title>Task Management Application using Docker</dc:title>
</cp:coreProperties>
</file>